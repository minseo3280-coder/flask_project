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6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00" d="100"/>
          <a:sy n="100" d="100"/>
        </p:scale>
        <p:origin x="0" y="0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1.xml"  /><Relationship Id="rId30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1eee629cd_6_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5" name="Google Shape;15;g3b1eee629cd_6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6" name="Google Shape;16;g3b1eee629cd_6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b1eee629cd_6_5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9" name="Google Shape;29;g3b1eee629cd_6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" name="Google Shape;30;g3b1eee629cd_6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0" name="Google Shape;7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1eee629cd_6_1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95" name="Google Shape;95;g3b1eee629cd_6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6" name="Google Shape;96;g3b1eee629cd_6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2fabebe57_2_6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27" name="Google Shape;127;g3b2fabebe57_2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8" name="Google Shape;128;g3b2fabebe57_2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1" name="Google Shape;17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2fabebe57_2_2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82" name="Google Shape;182;g3b2fabebe57_2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83" name="Google Shape;183;g3b2fabebe57_2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2fabebe57_2_4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2fabebe57_2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97" name="Google Shape;197;g3b2fabebe57_2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1eee629cd_3_4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1eee629cd_3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15" name="Google Shape;215;g3b1eee629cd_3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eee629cd_3_8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eee629cd_3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33" name="Google Shape;233;g3b1eee629cd_3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1eee629cd_3_15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1eee629cd_3_1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45" name="Google Shape;245;g3b1eee629cd_3_1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1eee629cd_3_17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b1eee629cd_3_1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63" name="Google Shape;263;g3b1eee629cd_3_1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ae6def66a_0_30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ae6def66a_0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75" name="Google Shape;275;g3aae6def66a_0_3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ae6def66a_0_4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20" name="Google Shape;320;g3aae6def66a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21" name="Google Shape;321;g3aae6def66a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ae6def66a_0_9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42" name="Google Shape;342;g3aae6def66a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43" name="Google Shape;343;g3aae6def66a_0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ae6def66a_0_1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62" name="Google Shape;362;g3aae6def66a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63" name="Google Shape;363;g3aae6def66a_0_1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ae6def66a_0_1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81" name="Google Shape;381;g3aae6def66a_0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82" name="Google Shape;382;g3aae6def66a_0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ae6def66a_0_20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99" name="Google Shape;399;g3aae6def66a_0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00" name="Google Shape;400;g3aae6def66a_0_2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ae6def66a_0_18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13" name="Google Shape;413;g3aae6def66a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14" name="Google Shape;414;g3aae6def66a_0_1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ae6def66a_0_22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26" name="Google Shape;426;g3aae6def66a_0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27" name="Google Shape;427;g3aae6def66a_0_2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44" name="Google Shape;4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45" name="Google Shape;44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72" name="Google Shape;4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73" name="Google Shape;4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b1eee629cd_6_15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98" name="Google Shape;498;g3b1eee629cd_6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99" name="Google Shape;499;g3b1eee629cd_6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30" name="Google Shape;53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31" name="Google Shape;53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Relationship Id="rId6" Type="http://schemas.openxmlformats.org/officeDocument/2006/relationships/image" Target="../media/image7.png"  /><Relationship Id="rId7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.png"  /><Relationship Id="rId4" Type="http://schemas.openxmlformats.org/officeDocument/2006/relationships/image" Target="../media/image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.xml"  /><Relationship Id="rId3" Type="http://schemas.openxmlformats.org/officeDocument/2006/relationships/hyperlink" Target="http://map.kakao.com" TargetMode="External" /><Relationship Id="rId4" Type="http://schemas.openxmlformats.org/officeDocument/2006/relationships/image" Target="../media/image20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1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1.xml"  /><Relationship Id="rId3" Type="http://schemas.openxmlformats.org/officeDocument/2006/relationships/hyperlink" Target="http://192.168.0.40:5000/" TargetMode="External"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g3b1eee629cd_6_12" descr="preencoded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b1eee629cd_6_12"/>
          <p:cNvSpPr/>
          <p:nvPr/>
        </p:nvSpPr>
        <p:spPr>
          <a:xfrm>
            <a:off x="799575" y="621125"/>
            <a:ext cx="3342412" cy="167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2862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전국 휴게소</a:t>
            </a:r>
            <a:endParaRPr lang="en-US" sz="2862" b="1">
              <a:solidFill>
                <a:srgbClr val="1a1a1a"/>
              </a:solidFill>
              <a:latin typeface="맑은 고딕"/>
              <a:ea typeface="맑은 고딕"/>
              <a:cs typeface="Calibri"/>
              <a:sym typeface="Calibri"/>
            </a:endParaRPr>
          </a:p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2862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맛집 및 여정 정보 큐레이션 시스템</a:t>
            </a:r>
            <a:endParaRPr sz="2862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0" name="Google Shape;20;g3b1eee629cd_6_12"/>
          <p:cNvSpPr/>
          <p:nvPr/>
        </p:nvSpPr>
        <p:spPr>
          <a:xfrm>
            <a:off x="571500" y="3453788"/>
            <a:ext cx="8572500" cy="24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1조 | </a:t>
            </a:r>
            <a:r>
              <a:rPr lang="en-US" sz="800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박민우, 신민서, 이유진, 류건우, 권민지</a:t>
            </a:r>
            <a:endParaRPr lang="en-US" sz="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Flask 기반 웹 서비스 프로젝트</a:t>
            </a:r>
            <a:endParaRPr sz="1300" b="1" i="0" u="none" strike="noStrike" cap="none">
              <a:solidFill>
                <a:srgbClr val="1a1a1a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1" name="Google Shape;21;g3b1eee629cd_6_12"/>
          <p:cNvSpPr/>
          <p:nvPr/>
        </p:nvSpPr>
        <p:spPr>
          <a:xfrm>
            <a:off x="571500" y="3954713"/>
            <a:ext cx="2857500" cy="18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25000"/>
              <a:buFont typeface="Calibri"/>
              <a:buNone/>
              <a:defRPr/>
            </a:pPr>
            <a:r>
              <a:rPr lang="en-US" sz="834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Calibri"/>
                <a:sym typeface="Calibri"/>
              </a:rPr>
              <a:t>여행 중 맛있는 휴게소를 쉽고 빠르게 추천하는 플랫폼</a:t>
            </a:r>
            <a:endParaRPr sz="834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2" name="Google Shape;22;g3b1eee629cd_6_1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23" name="Google Shape;23;g3b1eee629cd_6_12" descr="preencoded.png"/>
          <p:cNvPicPr/>
          <p:nvPr/>
        </p:nvPicPr>
        <p:blipFill rotWithShape="1">
          <a:blip r:embed="rId4">
            <a:alphaModFix amt="90000"/>
          </a:blip>
          <a:srcRect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g3b1eee629cd_6_12"/>
          <p:cNvSpPr/>
          <p:nvPr/>
        </p:nvSpPr>
        <p:spPr>
          <a:xfrm>
            <a:off x="571488" y="4243202"/>
            <a:ext cx="2139000" cy="23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Highway Gourmet Road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5" name="Google Shape;25;g3b1eee629cd_6_12"/>
          <p:cNvSpPr/>
          <p:nvPr/>
        </p:nvSpPr>
        <p:spPr>
          <a:xfrm>
            <a:off x="3553398" y="4866250"/>
            <a:ext cx="873600" cy="18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00" b="1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2025년 12월 22일</a:t>
            </a:r>
            <a:endParaRPr sz="8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6" name="Google Shape;26;g3b1eee629cd_6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1eee629cd_6_54"/>
          <p:cNvSpPr/>
          <p:nvPr/>
        </p:nvSpPr>
        <p:spPr>
          <a:xfrm>
            <a:off x="4422711" y="428775"/>
            <a:ext cx="792900" cy="37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2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목차</a:t>
            </a:r>
            <a:endParaRPr sz="2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3" name="Google Shape;33;g3b1eee629cd_6_54"/>
          <p:cNvSpPr/>
          <p:nvPr/>
        </p:nvSpPr>
        <p:spPr>
          <a:xfrm>
            <a:off x="999013" y="1472003"/>
            <a:ext cx="379800" cy="425400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txBody>
          <a:bodyPr wrap="square" lIns="97175" tIns="97175" rIns="97175" bIns="9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34" name="Google Shape;34;g3b1eee629cd_6_54"/>
          <p:cNvSpPr/>
          <p:nvPr/>
        </p:nvSpPr>
        <p:spPr>
          <a:xfrm>
            <a:off x="1045210" y="1494792"/>
            <a:ext cx="287400" cy="37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Calibri"/>
                <a:sym typeface="Calibri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5" name="Google Shape;35;g3b1eee629cd_6_54"/>
          <p:cNvSpPr/>
          <p:nvPr/>
        </p:nvSpPr>
        <p:spPr>
          <a:xfrm>
            <a:off x="1530502" y="1472003"/>
            <a:ext cx="2999100" cy="2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프로젝트 </a:t>
            </a:r>
            <a:r>
              <a:rPr lang="en-US" sz="12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 배경 및 목표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6" name="Google Shape;36;g3b1eee629cd_6_54"/>
          <p:cNvSpPr/>
          <p:nvPr/>
        </p:nvSpPr>
        <p:spPr>
          <a:xfrm>
            <a:off x="1549527" y="1697587"/>
            <a:ext cx="3496169" cy="19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사용자 불편 해소와 경량 웹 서비스 구현 목표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7" name="Google Shape;37;g3b1eee629cd_6_54"/>
          <p:cNvSpPr/>
          <p:nvPr/>
        </p:nvSpPr>
        <p:spPr>
          <a:xfrm>
            <a:off x="4909259" y="1472003"/>
            <a:ext cx="379800" cy="425400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txBody>
          <a:bodyPr wrap="square" lIns="97175" tIns="97175" rIns="97175" bIns="9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38" name="Google Shape;38;g3b1eee629cd_6_54"/>
          <p:cNvSpPr/>
          <p:nvPr/>
        </p:nvSpPr>
        <p:spPr>
          <a:xfrm>
            <a:off x="4909259" y="1472003"/>
            <a:ext cx="379800" cy="42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Calibri"/>
                <a:sym typeface="Calibri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9" name="Google Shape;39;g3b1eee629cd_6_54"/>
          <p:cNvSpPr/>
          <p:nvPr/>
        </p:nvSpPr>
        <p:spPr>
          <a:xfrm>
            <a:off x="5440749" y="1472003"/>
            <a:ext cx="2999100" cy="2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팀원 </a:t>
            </a:r>
            <a:r>
              <a:rPr lang="en-US" sz="1200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및 </a:t>
            </a:r>
            <a:r>
              <a:rPr lang="en-US" sz="12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역할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0" name="Google Shape;40;g3b1eee629cd_6_54"/>
          <p:cNvSpPr/>
          <p:nvPr/>
        </p:nvSpPr>
        <p:spPr>
          <a:xfrm>
            <a:off x="5459774" y="1697587"/>
            <a:ext cx="3496169" cy="19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팀원별 역할 및 담당 영역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1" name="Google Shape;41;g3b1eee629cd_6_54"/>
          <p:cNvSpPr/>
          <p:nvPr/>
        </p:nvSpPr>
        <p:spPr>
          <a:xfrm>
            <a:off x="999013" y="2296226"/>
            <a:ext cx="379800" cy="425400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txBody>
          <a:bodyPr wrap="square" lIns="97175" tIns="97175" rIns="97175" bIns="9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42" name="Google Shape;42;g3b1eee629cd_6_54"/>
          <p:cNvSpPr/>
          <p:nvPr/>
        </p:nvSpPr>
        <p:spPr>
          <a:xfrm>
            <a:off x="999013" y="2296226"/>
            <a:ext cx="379800" cy="42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Calibri"/>
                <a:sym typeface="Calibri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3" name="Google Shape;43;g3b1eee629cd_6_54"/>
          <p:cNvSpPr/>
          <p:nvPr/>
        </p:nvSpPr>
        <p:spPr>
          <a:xfrm>
            <a:off x="1530502" y="2296226"/>
            <a:ext cx="2999100" cy="2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주요기능 및 기술 요구사항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4" name="Google Shape;44;g3b1eee629cd_6_54"/>
          <p:cNvSpPr/>
          <p:nvPr/>
        </p:nvSpPr>
        <p:spPr>
          <a:xfrm>
            <a:off x="1549527" y="2521809"/>
            <a:ext cx="3496169" cy="19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기능 및 비기능 요구사항 명시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5" name="Google Shape;45;g3b1eee629cd_6_54"/>
          <p:cNvSpPr/>
          <p:nvPr/>
        </p:nvSpPr>
        <p:spPr>
          <a:xfrm>
            <a:off x="4909259" y="2296226"/>
            <a:ext cx="379800" cy="425400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txBody>
          <a:bodyPr wrap="square" lIns="97175" tIns="97175" rIns="97175" bIns="9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46" name="Google Shape;46;g3b1eee629cd_6_54"/>
          <p:cNvSpPr/>
          <p:nvPr/>
        </p:nvSpPr>
        <p:spPr>
          <a:xfrm>
            <a:off x="4909259" y="2296226"/>
            <a:ext cx="379800" cy="42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Calibri"/>
                <a:sym typeface="Calibri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7" name="Google Shape;47;g3b1eee629cd_6_54"/>
          <p:cNvSpPr/>
          <p:nvPr/>
        </p:nvSpPr>
        <p:spPr>
          <a:xfrm>
            <a:off x="5440749" y="2296226"/>
            <a:ext cx="2999100" cy="2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화면구성 및 UI/UX 개요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8" name="Google Shape;48;g3b1eee629cd_6_54"/>
          <p:cNvSpPr/>
          <p:nvPr/>
        </p:nvSpPr>
        <p:spPr>
          <a:xfrm>
            <a:off x="5459774" y="2521809"/>
            <a:ext cx="3496169" cy="19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000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인터페이스 구성 및 각 페이지 안내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9" name="Google Shape;49;g3b1eee629cd_6_54"/>
          <p:cNvSpPr/>
          <p:nvPr/>
        </p:nvSpPr>
        <p:spPr>
          <a:xfrm>
            <a:off x="989507" y="3120445"/>
            <a:ext cx="379800" cy="425400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txBody>
          <a:bodyPr wrap="square" lIns="97175" tIns="97175" rIns="97175" bIns="9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50" name="Google Shape;50;g3b1eee629cd_6_54"/>
          <p:cNvSpPr/>
          <p:nvPr/>
        </p:nvSpPr>
        <p:spPr>
          <a:xfrm>
            <a:off x="989507" y="3120445"/>
            <a:ext cx="379800" cy="42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ffffff"/>
                </a:solidFill>
                <a:latin typeface="맑은 고딕"/>
                <a:ea typeface="맑은 고딕"/>
                <a:cs typeface="Calibri"/>
                <a:sym typeface="Calibri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1" name="Google Shape;51;g3b1eee629cd_6_54"/>
          <p:cNvSpPr/>
          <p:nvPr/>
        </p:nvSpPr>
        <p:spPr>
          <a:xfrm>
            <a:off x="1520997" y="3120445"/>
            <a:ext cx="3189000" cy="2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프로그램 시연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2" name="Google Shape;52;g3b1eee629cd_6_54"/>
          <p:cNvSpPr/>
          <p:nvPr/>
        </p:nvSpPr>
        <p:spPr>
          <a:xfrm>
            <a:off x="1540022" y="3346028"/>
            <a:ext cx="3717543" cy="19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000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배포한 홈페이지 시연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3" name="Google Shape;53;g3b1eee629cd_6_54"/>
          <p:cNvSpPr/>
          <p:nvPr/>
        </p:nvSpPr>
        <p:spPr>
          <a:xfrm>
            <a:off x="4909272" y="3120448"/>
            <a:ext cx="379800" cy="425400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txBody>
          <a:bodyPr wrap="square" lIns="97175" tIns="97175" rIns="97175" bIns="9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54" name="Google Shape;54;g3b1eee629cd_6_54"/>
          <p:cNvSpPr/>
          <p:nvPr/>
        </p:nvSpPr>
        <p:spPr>
          <a:xfrm>
            <a:off x="4909272" y="3120448"/>
            <a:ext cx="379800" cy="42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Calibri"/>
                <a:sym typeface="Calibri"/>
              </a:rPr>
              <a:t>6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5" name="Google Shape;55;g3b1eee629cd_6_54"/>
          <p:cNvSpPr/>
          <p:nvPr/>
        </p:nvSpPr>
        <p:spPr>
          <a:xfrm>
            <a:off x="5440762" y="3120448"/>
            <a:ext cx="3189000" cy="2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코드 상세 분석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6" name="Google Shape;56;g3b1eee629cd_6_54"/>
          <p:cNvSpPr/>
          <p:nvPr/>
        </p:nvSpPr>
        <p:spPr>
          <a:xfrm>
            <a:off x="5459787" y="3346031"/>
            <a:ext cx="3717543" cy="19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000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주요 소스 코드 설명</a:t>
            </a:r>
            <a:endParaRPr lang="en-US" sz="1000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1000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7" name="Google Shape;57;g3b1eee629cd_6_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</a:t>
            </a:fld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58" name="Google Shape;58;g3b1eee629cd_6_54"/>
          <p:cNvSpPr/>
          <p:nvPr/>
        </p:nvSpPr>
        <p:spPr>
          <a:xfrm>
            <a:off x="989522" y="3944676"/>
            <a:ext cx="379800" cy="425400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txBody>
          <a:bodyPr wrap="square" lIns="97175" tIns="97175" rIns="97175" bIns="9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59" name="Google Shape;59;g3b1eee629cd_6_54"/>
          <p:cNvSpPr/>
          <p:nvPr/>
        </p:nvSpPr>
        <p:spPr>
          <a:xfrm>
            <a:off x="989522" y="3944676"/>
            <a:ext cx="379800" cy="42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Calibri"/>
                <a:sym typeface="Calibri"/>
              </a:rPr>
              <a:t>7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60" name="Google Shape;60;g3b1eee629cd_6_54"/>
          <p:cNvSpPr/>
          <p:nvPr/>
        </p:nvSpPr>
        <p:spPr>
          <a:xfrm>
            <a:off x="1521011" y="4039763"/>
            <a:ext cx="2999100" cy="2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DB 구조 및 시스템 아키텍처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61" name="Google Shape;61;g3b1eee629cd_6_54"/>
          <p:cNvSpPr/>
          <p:nvPr/>
        </p:nvSpPr>
        <p:spPr>
          <a:xfrm>
            <a:off x="1540036" y="4170259"/>
            <a:ext cx="2999100" cy="19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62" name="Google Shape;62;g3b1eee629cd_6_54"/>
          <p:cNvSpPr/>
          <p:nvPr/>
        </p:nvSpPr>
        <p:spPr>
          <a:xfrm>
            <a:off x="4909259" y="3893823"/>
            <a:ext cx="379800" cy="425400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txBody>
          <a:bodyPr wrap="square" lIns="97175" tIns="97175" rIns="97175" bIns="97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63" name="Google Shape;63;g3b1eee629cd_6_54"/>
          <p:cNvSpPr/>
          <p:nvPr/>
        </p:nvSpPr>
        <p:spPr>
          <a:xfrm>
            <a:off x="4909259" y="3893823"/>
            <a:ext cx="379800" cy="42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맑은 고딕"/>
                <a:ea typeface="맑은 고딕"/>
                <a:cs typeface="Calibri"/>
                <a:sym typeface="Calibri"/>
              </a:rPr>
              <a:t>8</a:t>
            </a:r>
            <a:endParaRPr sz="1200" b="1">
              <a:solidFill>
                <a:srgbClr val="ffffff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64" name="Google Shape;64;g3b1eee629cd_6_54"/>
          <p:cNvSpPr/>
          <p:nvPr/>
        </p:nvSpPr>
        <p:spPr>
          <a:xfrm>
            <a:off x="5440750" y="3893823"/>
            <a:ext cx="3189000" cy="2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200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프로젝트 요약 및 향후 계획</a:t>
            </a:r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65" name="Google Shape;65;g3b1eee629cd_6_54"/>
          <p:cNvSpPr/>
          <p:nvPr/>
        </p:nvSpPr>
        <p:spPr>
          <a:xfrm>
            <a:off x="5459775" y="4119406"/>
            <a:ext cx="3717543" cy="19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000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프로젝트 소감 및 질문과 답변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66" name="Google Shape;66;g3b1eee629cd_6_54"/>
          <p:cNvSpPr txBox="1"/>
          <p:nvPr/>
        </p:nvSpPr>
        <p:spPr>
          <a:xfrm>
            <a:off x="1430650" y="4170250"/>
            <a:ext cx="1878356" cy="45507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주요 개요 및 시스템 흐름</a:t>
            </a:r>
            <a:endParaRPr sz="10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/>
          <p:nvPr/>
        </p:nvSpPr>
        <p:spPr>
          <a:xfrm>
            <a:off x="573363" y="1044551"/>
            <a:ext cx="5686500" cy="307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497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프로젝트</a:t>
            </a:r>
            <a:r>
              <a:rPr lang="en-US" sz="1497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 배경</a:t>
            </a:r>
            <a:endParaRPr sz="149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73363" y="1476748"/>
            <a:ext cx="55287" cy="2758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35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51955" y="1499965"/>
            <a:ext cx="3623574" cy="262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국내 자동차 여행 및 고속도로 이용객 증가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73363" y="1745829"/>
            <a:ext cx="55287" cy="2734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35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51956" y="1769046"/>
            <a:ext cx="4248782" cy="2597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'휴게소 맛집' 문화 확산에도 불구하고 경로상 정보를 한눈에 보기 어려움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73363" y="2050718"/>
            <a:ext cx="55287" cy="2733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35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751956" y="2575765"/>
            <a:ext cx="4804023" cy="262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단순 경로 안내를 넘어 휴게소별 맛집 및 시설 정보를 통합한 큐레이션 필요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73363" y="3165522"/>
            <a:ext cx="5686500" cy="3111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497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프로젝트 목표</a:t>
            </a:r>
            <a:endParaRPr sz="149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73363" y="3607101"/>
            <a:ext cx="55287" cy="269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35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751956" y="3620936"/>
            <a:ext cx="3820044" cy="265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Flask 기반의 웹 서버를 통한 실시간 고속도로 경로 및 휴게소 정보 제공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73363" y="3885707"/>
            <a:ext cx="55287" cy="2671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35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751956" y="3899542"/>
            <a:ext cx="4248782" cy="2628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Kakao Maps API를 활용한 시각적 경로 안내 및 커스텀 마커 구현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73363" y="4164313"/>
            <a:ext cx="55287" cy="2743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35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751956" y="4178149"/>
            <a:ext cx="4546648" cy="2605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휴게소 상세 정보 제공 및 카카오맵 외부 링크 연동으로 사용자 편의성 극대화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573363" y="4442920"/>
            <a:ext cx="55287" cy="2719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35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751956" y="4456755"/>
            <a:ext cx="2903100" cy="258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로컬 서버 환경에서의 안정적인 프로토타입 구현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pic>
        <p:nvPicPr>
          <p:cNvPr id="88" name="Google Shape;88;p2" descr="preencoded.png"/>
          <p:cNvPicPr/>
          <p:nvPr/>
        </p:nvPicPr>
        <p:blipFill rotWithShape="1">
          <a:blip r:embed="rId3">
            <a:alphaModFix amt="95000"/>
          </a:blip>
          <a:srcRect/>
          <a:stretch>
            <a:fillRect/>
          </a:stretch>
        </p:blipFill>
        <p:spPr>
          <a:xfrm>
            <a:off x="6178375" y="6326"/>
            <a:ext cx="296562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/>
          <p:nvPr/>
        </p:nvSpPr>
        <p:spPr>
          <a:xfrm>
            <a:off x="573376" y="2533362"/>
            <a:ext cx="53700" cy="19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35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751943" y="2057204"/>
            <a:ext cx="3953584" cy="5145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30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운전 중 경로 검색 시의 안전상 위험과 경로상의 휴게소 정보 및 메뉴를 미리 결정할 수 있는 효율적인 서비스의 필요성 체감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113792" marR="0" lvl="8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altLang="ko-KR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1.</a:t>
            </a:r>
            <a:r>
              <a:rPr lang="ko-KR" alt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 </a:t>
            </a: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프로젝트 배경 및 목표</a:t>
            </a:r>
            <a:endParaRPr lang="en-US" sz="1808" b="1">
              <a:solidFill>
                <a:srgbClr val="1a1a1a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900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</a:t>
            </a:fld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1eee629cd_6_110"/>
          <p:cNvSpPr/>
          <p:nvPr/>
        </p:nvSpPr>
        <p:spPr>
          <a:xfrm>
            <a:off x="428550" y="853024"/>
            <a:ext cx="8286900" cy="108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99" name="Google Shape;99;g3b1eee629cd_6_110"/>
          <p:cNvSpPr/>
          <p:nvPr/>
        </p:nvSpPr>
        <p:spPr>
          <a:xfrm>
            <a:off x="428550" y="853024"/>
            <a:ext cx="28500" cy="1080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00" name="Google Shape;100;g3b1eee629cd_6_110"/>
          <p:cNvSpPr/>
          <p:nvPr/>
        </p:nvSpPr>
        <p:spPr>
          <a:xfrm>
            <a:off x="607144" y="1031618"/>
            <a:ext cx="79296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프로젝트 관리 및 총괄(</a:t>
            </a:r>
            <a:r>
              <a:rPr lang="en-US" sz="10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PM)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01" name="Google Shape;101;g3b1eee629cd_6_110"/>
          <p:cNvSpPr/>
          <p:nvPr/>
        </p:nvSpPr>
        <p:spPr>
          <a:xfrm>
            <a:off x="607144" y="1292365"/>
            <a:ext cx="79296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박민우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02" name="Google Shape;102;g3b1eee629cd_6_110"/>
          <p:cNvSpPr/>
          <p:nvPr/>
        </p:nvSpPr>
        <p:spPr>
          <a:xfrm>
            <a:off x="607144" y="1585258"/>
            <a:ext cx="7929600" cy="17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프로젝트 전반의 일정 관리, 리소스 배분, 팀 커뮤니케이션 총괄 및 최종 발표 담당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03" name="Google Shape;103;g3b1eee629cd_6_110"/>
          <p:cNvSpPr/>
          <p:nvPr/>
        </p:nvSpPr>
        <p:spPr>
          <a:xfrm>
            <a:off x="428550" y="2219601"/>
            <a:ext cx="4000500" cy="108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04" name="Google Shape;104;g3b1eee629cd_6_110"/>
          <p:cNvSpPr/>
          <p:nvPr/>
        </p:nvSpPr>
        <p:spPr>
          <a:xfrm>
            <a:off x="428550" y="2219601"/>
            <a:ext cx="28500" cy="1080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05" name="Google Shape;105;g3b1eee629cd_6_110"/>
          <p:cNvSpPr/>
          <p:nvPr/>
        </p:nvSpPr>
        <p:spPr>
          <a:xfrm>
            <a:off x="607144" y="2398195"/>
            <a:ext cx="36432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기술 아키텍처</a:t>
            </a:r>
            <a:r>
              <a:rPr lang="en-US" sz="10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(PL)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06" name="Google Shape;106;g3b1eee629cd_6_110"/>
          <p:cNvSpPr/>
          <p:nvPr/>
        </p:nvSpPr>
        <p:spPr>
          <a:xfrm>
            <a:off x="607144" y="2658942"/>
            <a:ext cx="36432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신민서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07" name="Google Shape;107;g3b1eee629cd_6_110"/>
          <p:cNvSpPr/>
          <p:nvPr/>
        </p:nvSpPr>
        <p:spPr>
          <a:xfrm>
            <a:off x="607144" y="2951835"/>
            <a:ext cx="3643200" cy="17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기술 방향성 설정, 시스템 아키텍처 설계, 핵심 백엔드 로직 개발 리드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08" name="Google Shape;108;g3b1eee629cd_6_110"/>
          <p:cNvSpPr/>
          <p:nvPr/>
        </p:nvSpPr>
        <p:spPr>
          <a:xfrm>
            <a:off x="4714800" y="2219601"/>
            <a:ext cx="4000500" cy="108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09" name="Google Shape;109;g3b1eee629cd_6_110"/>
          <p:cNvSpPr/>
          <p:nvPr/>
        </p:nvSpPr>
        <p:spPr>
          <a:xfrm>
            <a:off x="4714800" y="2219601"/>
            <a:ext cx="28500" cy="1080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10" name="Google Shape;110;g3b1eee629cd_6_110"/>
          <p:cNvSpPr/>
          <p:nvPr/>
        </p:nvSpPr>
        <p:spPr>
          <a:xfrm>
            <a:off x="4893394" y="2398195"/>
            <a:ext cx="36432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AI &amp; API 연동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11" name="Google Shape;111;g3b1eee629cd_6_110"/>
          <p:cNvSpPr/>
          <p:nvPr/>
        </p:nvSpPr>
        <p:spPr>
          <a:xfrm>
            <a:off x="4893394" y="2658942"/>
            <a:ext cx="36432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류건우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12" name="Google Shape;112;g3b1eee629cd_6_110"/>
          <p:cNvSpPr/>
          <p:nvPr/>
        </p:nvSpPr>
        <p:spPr>
          <a:xfrm>
            <a:off x="4893394" y="2951835"/>
            <a:ext cx="3643200" cy="17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Gemini API 연동 및 AI 로직 구성, 외부 API Key 관리 및 최적화 담당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13" name="Google Shape;113;g3b1eee629cd_6_110"/>
          <p:cNvSpPr/>
          <p:nvPr/>
        </p:nvSpPr>
        <p:spPr>
          <a:xfrm>
            <a:off x="428550" y="3586178"/>
            <a:ext cx="4000500" cy="108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14" name="Google Shape;114;g3b1eee629cd_6_110"/>
          <p:cNvSpPr/>
          <p:nvPr/>
        </p:nvSpPr>
        <p:spPr>
          <a:xfrm>
            <a:off x="428550" y="3586178"/>
            <a:ext cx="28500" cy="1080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15" name="Google Shape;115;g3b1eee629cd_6_110"/>
          <p:cNvSpPr/>
          <p:nvPr/>
        </p:nvSpPr>
        <p:spPr>
          <a:xfrm>
            <a:off x="607144" y="3764772"/>
            <a:ext cx="36432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UI/UX 디자인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16" name="Google Shape;116;g3b1eee629cd_6_110"/>
          <p:cNvSpPr/>
          <p:nvPr/>
        </p:nvSpPr>
        <p:spPr>
          <a:xfrm>
            <a:off x="607144" y="4025519"/>
            <a:ext cx="36432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이유진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17" name="Google Shape;117;g3b1eee629cd_6_110"/>
          <p:cNvSpPr/>
          <p:nvPr/>
        </p:nvSpPr>
        <p:spPr>
          <a:xfrm>
            <a:off x="607144" y="4318412"/>
            <a:ext cx="3643200" cy="17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UI/UX 디자인 및 프론트엔드 구현, 사용자 경험 개선 및 시각적 요소 담당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18" name="Google Shape;118;g3b1eee629cd_6_110"/>
          <p:cNvSpPr/>
          <p:nvPr/>
        </p:nvSpPr>
        <p:spPr>
          <a:xfrm>
            <a:off x="4714800" y="3586178"/>
            <a:ext cx="4000500" cy="108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19" name="Google Shape;119;g3b1eee629cd_6_110"/>
          <p:cNvSpPr/>
          <p:nvPr/>
        </p:nvSpPr>
        <p:spPr>
          <a:xfrm>
            <a:off x="4714800" y="3586178"/>
            <a:ext cx="28500" cy="1080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20" name="Google Shape;120;g3b1eee629cd_6_110"/>
          <p:cNvSpPr/>
          <p:nvPr/>
        </p:nvSpPr>
        <p:spPr>
          <a:xfrm>
            <a:off x="4893394" y="3764772"/>
            <a:ext cx="36432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데이터베이스 &amp; 배포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21" name="Google Shape;121;g3b1eee629cd_6_110"/>
          <p:cNvSpPr/>
          <p:nvPr/>
        </p:nvSpPr>
        <p:spPr>
          <a:xfrm>
            <a:off x="4893394" y="4025519"/>
            <a:ext cx="36432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권민지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22" name="Google Shape;122;g3b1eee629cd_6_110"/>
          <p:cNvSpPr/>
          <p:nvPr/>
        </p:nvSpPr>
        <p:spPr>
          <a:xfrm>
            <a:off x="4893394" y="4318412"/>
            <a:ext cx="3643200" cy="17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MariaDB 구성 및 클라우드 타입 배포 환경 구축, 데이터베이스 관리 및 안정화 담당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23" name="Google Shape;123;g3b1eee629cd_6_110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2. 팀원 및 역할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24" name="Google Shape;124;g3b1eee629cd_6_1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4</a:t>
            </a:fld>
            <a:endParaRPr 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2fabebe57_2_62"/>
          <p:cNvSpPr/>
          <p:nvPr/>
        </p:nvSpPr>
        <p:spPr>
          <a:xfrm>
            <a:off x="628500" y="1033141"/>
            <a:ext cx="3777300" cy="21781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grpSp>
        <p:nvGrpSpPr>
          <p:cNvPr id="168" name=""/>
          <p:cNvGrpSpPr/>
          <p:nvPr/>
        </p:nvGrpSpPr>
        <p:grpSpPr>
          <a:xfrm rot="0">
            <a:off x="4779484" y="1033141"/>
            <a:ext cx="3777300" cy="2178122"/>
            <a:chOff x="4743025" y="1150364"/>
            <a:chExt cx="3777300" cy="1858275"/>
          </a:xfrm>
        </p:grpSpPr>
        <p:sp>
          <p:nvSpPr>
            <p:cNvPr id="131" name="Google Shape;131;g3b2fabebe57_2_62"/>
            <p:cNvSpPr/>
            <p:nvPr/>
          </p:nvSpPr>
          <p:spPr>
            <a:xfrm>
              <a:off x="4743025" y="1152839"/>
              <a:ext cx="3777300" cy="185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맑은 고딕"/>
                <a:ea typeface="맑은 고딕"/>
              </a:endParaRPr>
            </a:p>
          </p:txBody>
        </p:sp>
        <p:sp>
          <p:nvSpPr>
            <p:cNvPr id="166" name="Google Shape;166;g3b2fabebe57_2_62"/>
            <p:cNvSpPr/>
            <p:nvPr/>
          </p:nvSpPr>
          <p:spPr>
            <a:xfrm rot="5400000">
              <a:off x="6621325" y="-727936"/>
              <a:ext cx="20700" cy="3777300"/>
            </a:xfrm>
            <a:prstGeom prst="rect">
              <a:avLst/>
            </a:prstGeom>
            <a:solidFill>
              <a:srgbClr val="ff5722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맑은 고딕"/>
                <a:ea typeface="맑은 고딕"/>
              </a:endParaRPr>
            </a:p>
          </p:txBody>
        </p:sp>
      </p:grpSp>
      <p:sp>
        <p:nvSpPr>
          <p:cNvPr id="130" name="Google Shape;130;g3b2fabebe57_2_62"/>
          <p:cNvSpPr/>
          <p:nvPr/>
        </p:nvSpPr>
        <p:spPr>
          <a:xfrm>
            <a:off x="628575" y="3448451"/>
            <a:ext cx="7887000" cy="130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33" name="Google Shape;133;g3b2fabebe57_2_62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3. </a:t>
            </a:r>
            <a:r>
              <a:rPr lang="en-US" sz="1808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주요 기능 및 기술 요구사항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grpSp>
        <p:nvGrpSpPr>
          <p:cNvPr id="134" name="Google Shape;134;g3b2fabebe57_2_62"/>
          <p:cNvGrpSpPr/>
          <p:nvPr/>
        </p:nvGrpSpPr>
        <p:grpSpPr>
          <a:xfrm rot="0">
            <a:off x="4865483" y="1166490"/>
            <a:ext cx="3691300" cy="1038518"/>
            <a:chOff x="357187" y="2438269"/>
            <a:chExt cx="8429700" cy="954661"/>
          </a:xfrm>
        </p:grpSpPr>
        <p:sp>
          <p:nvSpPr>
            <p:cNvPr id="135" name="Google Shape;135;g3b2fabebe57_2_62"/>
            <p:cNvSpPr/>
            <p:nvPr/>
          </p:nvSpPr>
          <p:spPr>
            <a:xfrm>
              <a:off x="357187" y="2438269"/>
              <a:ext cx="84297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18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722"/>
                </a:buClr>
                <a:buSzPct val="25000"/>
                <a:buFont typeface="Calibri"/>
                <a:buNone/>
                <a:defRPr/>
              </a:pPr>
              <a:r>
                <a:rPr lang="en-US" sz="1087" b="1" i="0" u="none" strike="noStrike" cap="none">
                  <a:solidFill>
                    <a:srgbClr val="ff5722"/>
                  </a:solidFill>
                  <a:latin typeface="맑은 고딕"/>
                  <a:ea typeface="맑은 고딕"/>
                  <a:cs typeface="Calibri"/>
                  <a:sym typeface="Calibri"/>
                </a:rPr>
                <a:t>비기능 요구사항 (Non-functional Requirements)</a:t>
              </a:r>
              <a:endParaRPr sz="1087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36" name="Google Shape;136;g3b2fabebe57_2_62"/>
            <p:cNvSpPr/>
            <p:nvPr/>
          </p:nvSpPr>
          <p:spPr>
            <a:xfrm>
              <a:off x="357188" y="2903488"/>
              <a:ext cx="50100" cy="17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2cc"/>
                </a:buClr>
                <a:buSzPct val="25000"/>
                <a:buFont typeface="Calibri"/>
                <a:buNone/>
                <a:defRPr/>
              </a:pPr>
              <a:r>
                <a:rPr lang="en-US" sz="900" b="1" i="0" u="none" strike="noStrike" cap="none">
                  <a:solidFill>
                    <a:srgbClr val="0052cc"/>
                  </a:solidFill>
                  <a:latin typeface="맑은 고딕"/>
                  <a:cs typeface="Calibri"/>
                  <a:sym typeface="Calibri"/>
                </a:rPr>
                <a:t>▸</a:t>
              </a:r>
              <a:endParaRPr sz="9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38" name="Google Shape;138;g3b2fabebe57_2_62"/>
            <p:cNvSpPr/>
            <p:nvPr/>
          </p:nvSpPr>
          <p:spPr>
            <a:xfrm>
              <a:off x="862606" y="2921347"/>
              <a:ext cx="7473229" cy="1534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78817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정확도</a:t>
              </a:r>
              <a:r>
                <a:rPr lang="en-US" altLang="ko-KR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:</a:t>
              </a: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카카오 장소 검색 결과와 휴게소 DB 간의 높은 데이터 일치율 유지</a:t>
              </a:r>
              <a:endParaRPr lang="en-US" sz="7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39" name="Google Shape;139;g3b2fabebe57_2_62"/>
            <p:cNvSpPr/>
            <p:nvPr/>
          </p:nvSpPr>
          <p:spPr>
            <a:xfrm>
              <a:off x="357187" y="3222830"/>
              <a:ext cx="50100" cy="17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2cc"/>
                </a:buClr>
                <a:buSzPct val="25000"/>
                <a:buFont typeface="Calibri"/>
                <a:buNone/>
                <a:defRPr/>
              </a:pPr>
              <a:r>
                <a:rPr lang="en-US" sz="900" b="1" i="0" u="none" strike="noStrike" cap="none">
                  <a:solidFill>
                    <a:srgbClr val="0052cc"/>
                  </a:solidFill>
                  <a:latin typeface="맑은 고딕"/>
                  <a:cs typeface="Calibri"/>
                  <a:sym typeface="Calibri"/>
                </a:rPr>
                <a:t>▸</a:t>
              </a:r>
              <a:endParaRPr sz="9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41" name="Google Shape;141;g3b2fabebe57_2_62"/>
            <p:cNvSpPr/>
            <p:nvPr/>
          </p:nvSpPr>
          <p:spPr>
            <a:xfrm>
              <a:off x="762594" y="3240690"/>
              <a:ext cx="7634819" cy="152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78817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en-US" sz="727" b="1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ko-KR" altLang="en-US" sz="727" b="1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성능</a:t>
              </a:r>
              <a:r>
                <a:rPr lang="en-US" altLang="ko-KR" sz="727" b="1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:</a:t>
              </a:r>
              <a:r>
                <a:rPr lang="ko-KR" altLang="en-US" sz="727" b="1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지도 드래그 및 확대/축소 시 끊김 없는 렌더링 성능 확보</a:t>
              </a:r>
              <a:endParaRPr lang="en-US" sz="7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g3b2fabebe57_2_62"/>
          <p:cNvGrpSpPr/>
          <p:nvPr/>
        </p:nvGrpSpPr>
        <p:grpSpPr>
          <a:xfrm rot="0">
            <a:off x="787525" y="3648303"/>
            <a:ext cx="4401989" cy="966595"/>
            <a:chOff x="357188" y="3711401"/>
            <a:chExt cx="8429700" cy="966595"/>
          </a:xfrm>
        </p:grpSpPr>
        <p:sp>
          <p:nvSpPr>
            <p:cNvPr id="143" name="Google Shape;143;g3b2fabebe57_2_62"/>
            <p:cNvSpPr/>
            <p:nvPr/>
          </p:nvSpPr>
          <p:spPr>
            <a:xfrm>
              <a:off x="357188" y="3711401"/>
              <a:ext cx="84297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18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722"/>
                </a:buClr>
                <a:buSzPct val="25000"/>
                <a:buFont typeface="Calibri"/>
                <a:buNone/>
                <a:defRPr/>
              </a:pPr>
              <a:r>
                <a:rPr lang="en-US" sz="1087" b="1" i="0" u="none" strike="noStrike" cap="none">
                  <a:solidFill>
                    <a:srgbClr val="ff5722"/>
                  </a:solidFill>
                  <a:latin typeface="맑은 고딕"/>
                  <a:ea typeface="맑은 고딕"/>
                  <a:cs typeface="Calibri"/>
                  <a:sym typeface="Calibri"/>
                </a:rPr>
                <a:t>구현 체크리스트</a:t>
              </a:r>
              <a:endParaRPr sz="1087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44" name="Google Shape;144;g3b2fabebe57_2_62"/>
            <p:cNvSpPr/>
            <p:nvPr/>
          </p:nvSpPr>
          <p:spPr>
            <a:xfrm>
              <a:off x="357188" y="4025726"/>
              <a:ext cx="78600" cy="19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132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722"/>
                </a:buClr>
                <a:buSzPct val="25000"/>
                <a:buFont typeface="Calibri"/>
                <a:buNone/>
                <a:defRPr/>
              </a:pPr>
              <a:r>
                <a:rPr lang="en-US" sz="900" b="1" i="0" u="none" strike="noStrike" cap="none">
                  <a:solidFill>
                    <a:srgbClr val="ff5722"/>
                  </a:solidFill>
                  <a:latin typeface="맑은 고딕"/>
                  <a:cs typeface="Calibri"/>
                  <a:sym typeface="Calibri"/>
                </a:rPr>
                <a:t>✓</a:t>
              </a:r>
              <a:endParaRPr sz="9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45" name="Google Shape;145;g3b2fabebe57_2_62"/>
            <p:cNvSpPr/>
            <p:nvPr/>
          </p:nvSpPr>
          <p:spPr>
            <a:xfrm>
              <a:off x="571506" y="4043570"/>
              <a:ext cx="45243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78817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en-US" sz="8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Kakao API Key 발급 및 보안 처리</a:t>
              </a:r>
              <a:endParaRPr sz="827" b="1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46" name="Google Shape;146;g3b2fabebe57_2_62"/>
            <p:cNvSpPr/>
            <p:nvPr/>
          </p:nvSpPr>
          <p:spPr>
            <a:xfrm>
              <a:off x="357188" y="4254661"/>
              <a:ext cx="78600" cy="19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132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722"/>
                </a:buClr>
                <a:buSzPct val="25000"/>
                <a:buFont typeface="Calibri"/>
                <a:buNone/>
                <a:defRPr/>
              </a:pPr>
              <a:r>
                <a:rPr lang="en-US" sz="900" b="1" i="0" u="none" strike="noStrike" cap="none">
                  <a:solidFill>
                    <a:srgbClr val="ff5722"/>
                  </a:solidFill>
                  <a:latin typeface="맑은 고딕"/>
                  <a:cs typeface="Calibri"/>
                  <a:sym typeface="Calibri"/>
                </a:rPr>
                <a:t>✓</a:t>
              </a:r>
              <a:endParaRPr sz="9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47" name="Google Shape;147;g3b2fabebe57_2_62"/>
            <p:cNvSpPr/>
            <p:nvPr/>
          </p:nvSpPr>
          <p:spPr>
            <a:xfrm>
              <a:off x="571507" y="4272520"/>
              <a:ext cx="41289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78817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en-US" sz="8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지도 렌더링 최적화 로직 구현</a:t>
              </a:r>
              <a:endParaRPr sz="827" b="1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48" name="Google Shape;148;g3b2fabebe57_2_62"/>
            <p:cNvSpPr/>
            <p:nvPr/>
          </p:nvSpPr>
          <p:spPr>
            <a:xfrm>
              <a:off x="357188" y="4483596"/>
              <a:ext cx="78600" cy="19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132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722"/>
                </a:buClr>
                <a:buSzPct val="25000"/>
                <a:buFont typeface="Calibri"/>
                <a:buNone/>
                <a:defRPr/>
              </a:pPr>
              <a:r>
                <a:rPr lang="en-US" sz="900" b="1" i="0" u="none" strike="noStrike" cap="none">
                  <a:solidFill>
                    <a:srgbClr val="ff5722"/>
                  </a:solidFill>
                  <a:latin typeface="맑은 고딕"/>
                  <a:cs typeface="Calibri"/>
                  <a:sym typeface="Calibri"/>
                </a:rPr>
                <a:t>✓</a:t>
              </a:r>
              <a:endParaRPr sz="9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49" name="Google Shape;149;g3b2fabebe57_2_62"/>
            <p:cNvSpPr/>
            <p:nvPr/>
          </p:nvSpPr>
          <p:spPr>
            <a:xfrm>
              <a:off x="571507" y="4501445"/>
              <a:ext cx="44301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78817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en-US" sz="8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장소 상세 정보 링크 연동 완료</a:t>
              </a:r>
              <a:endParaRPr sz="827" b="1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</p:grpSp>
      <p:sp>
        <p:nvSpPr>
          <p:cNvPr id="150" name="Google Shape;150;g3b2fabebe57_2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5</a:t>
            </a:fld>
            <a:endParaRPr lang="en-US">
              <a:latin typeface="맑은 고딕"/>
              <a:ea typeface="맑은 고딕"/>
            </a:endParaRPr>
          </a:p>
        </p:txBody>
      </p:sp>
      <p:grpSp>
        <p:nvGrpSpPr>
          <p:cNvPr id="151" name="Google Shape;151;g3b2fabebe57_2_62"/>
          <p:cNvGrpSpPr/>
          <p:nvPr/>
        </p:nvGrpSpPr>
        <p:grpSpPr>
          <a:xfrm rot="0">
            <a:off x="659468" y="1166490"/>
            <a:ext cx="3783023" cy="1959309"/>
            <a:chOff x="269208" y="1323185"/>
            <a:chExt cx="3870101" cy="1279267"/>
          </a:xfrm>
        </p:grpSpPr>
        <p:sp>
          <p:nvSpPr>
            <p:cNvPr id="152" name="Google Shape;152;g3b2fabebe57_2_62"/>
            <p:cNvSpPr/>
            <p:nvPr/>
          </p:nvSpPr>
          <p:spPr>
            <a:xfrm>
              <a:off x="357188" y="1550444"/>
              <a:ext cx="50100" cy="17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2cc"/>
                </a:buClr>
                <a:buSzPct val="25000"/>
                <a:buFont typeface="Calibri"/>
                <a:buNone/>
                <a:defRPr/>
              </a:pPr>
              <a:r>
                <a:rPr lang="en-US" sz="900" b="1" i="0" u="none" strike="noStrike" cap="none">
                  <a:solidFill>
                    <a:srgbClr val="0052cc"/>
                  </a:solidFill>
                  <a:latin typeface="맑은 고딕"/>
                  <a:cs typeface="Calibri"/>
                  <a:sym typeface="Calibri"/>
                </a:rPr>
                <a:t>▸</a:t>
              </a:r>
              <a:endParaRPr sz="900" b="1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54" name="Google Shape;154;g3b2fabebe57_2_62"/>
            <p:cNvSpPr/>
            <p:nvPr/>
          </p:nvSpPr>
          <p:spPr>
            <a:xfrm>
              <a:off x="432738" y="1568303"/>
              <a:ext cx="3706571" cy="99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78817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경로 탐색</a:t>
              </a:r>
              <a:r>
                <a:rPr lang="en-US" altLang="ko-KR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:</a:t>
              </a: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주소 입력을 통한 실시간 지도 경로 표시 (Kakao Maps API)</a:t>
              </a:r>
              <a:endParaRPr lang="en-US" sz="7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55" name="Google Shape;155;g3b2fabebe57_2_62"/>
            <p:cNvSpPr/>
            <p:nvPr/>
          </p:nvSpPr>
          <p:spPr>
            <a:xfrm>
              <a:off x="357188" y="1793666"/>
              <a:ext cx="50100" cy="17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2cc"/>
                </a:buClr>
                <a:buSzPct val="25000"/>
                <a:buFont typeface="Calibri"/>
                <a:buNone/>
                <a:defRPr/>
              </a:pPr>
              <a:r>
                <a:rPr lang="en-US" sz="900" b="1" i="0" u="none" strike="noStrike" cap="none">
                  <a:solidFill>
                    <a:srgbClr val="0052cc"/>
                  </a:solidFill>
                  <a:latin typeface="맑은 고딕"/>
                  <a:cs typeface="Calibri"/>
                  <a:sym typeface="Calibri"/>
                </a:rPr>
                <a:t>▸</a:t>
              </a:r>
              <a:endParaRPr sz="900" b="1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57" name="Google Shape;157;g3b2fabebe57_2_62"/>
            <p:cNvSpPr/>
            <p:nvPr/>
          </p:nvSpPr>
          <p:spPr>
            <a:xfrm>
              <a:off x="432737" y="1811525"/>
              <a:ext cx="3706571" cy="17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휴게소 큐레이션:</a:t>
              </a: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탐색 경로 위에 휴게소 아이콘(식당/편의시설) 배치 및 시각화</a:t>
              </a:r>
              <a:endParaRPr lang="en-US" sz="7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58" name="Google Shape;158;g3b2fabebe57_2_62"/>
            <p:cNvSpPr/>
            <p:nvPr/>
          </p:nvSpPr>
          <p:spPr>
            <a:xfrm>
              <a:off x="357188" y="2036888"/>
              <a:ext cx="50100" cy="17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2cc"/>
                </a:buClr>
                <a:buSzPct val="25000"/>
                <a:buFont typeface="Calibri"/>
                <a:buNone/>
                <a:defRPr/>
              </a:pPr>
              <a:r>
                <a:rPr lang="en-US" sz="900" b="1" i="0" u="none" strike="noStrike" cap="none">
                  <a:solidFill>
                    <a:srgbClr val="0052cc"/>
                  </a:solidFill>
                  <a:latin typeface="맑은 고딕"/>
                  <a:cs typeface="Calibri"/>
                  <a:sym typeface="Calibri"/>
                </a:rPr>
                <a:t>▸</a:t>
              </a:r>
              <a:endParaRPr sz="900" b="1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60" name="Google Shape;160;g3b2fabebe57_2_62"/>
            <p:cNvSpPr/>
            <p:nvPr/>
          </p:nvSpPr>
          <p:spPr>
            <a:xfrm>
              <a:off x="432738" y="2054739"/>
              <a:ext cx="3692587" cy="271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상세 정보 제공:</a:t>
              </a: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휴게소별 대표 맛집 메뉴, 편의시설(</a:t>
              </a:r>
              <a:r>
                <a:rPr lang="en-US" sz="727" b="1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주유소, EV충전소, 약국, 수유실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) </a:t>
              </a: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       </a:t>
              </a:r>
              <a:endParaRPr lang="en-US" sz="7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안내</a:t>
              </a:r>
              <a:endParaRPr lang="en-US" sz="7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61" name="Google Shape;161;g3b2fabebe57_2_62"/>
            <p:cNvSpPr/>
            <p:nvPr/>
          </p:nvSpPr>
          <p:spPr>
            <a:xfrm>
              <a:off x="357188" y="2432352"/>
              <a:ext cx="50100" cy="17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2cc"/>
                </a:buClr>
                <a:buSzPct val="25000"/>
                <a:buFont typeface="Calibri"/>
                <a:buNone/>
                <a:defRPr/>
              </a:pPr>
              <a:r>
                <a:rPr lang="en-US" sz="900" b="1" i="0" u="none" strike="noStrike" cap="none">
                  <a:solidFill>
                    <a:srgbClr val="0052cc"/>
                  </a:solidFill>
                  <a:latin typeface="맑은 고딕"/>
                  <a:cs typeface="Calibri"/>
                  <a:sym typeface="Calibri"/>
                </a:rPr>
                <a:t>▸</a:t>
              </a:r>
              <a:endParaRPr sz="900" b="1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63" name="Google Shape;163;g3b2fabebe57_2_62"/>
            <p:cNvSpPr/>
            <p:nvPr/>
          </p:nvSpPr>
          <p:spPr>
            <a:xfrm>
              <a:off x="432738" y="2450211"/>
              <a:ext cx="3627597" cy="1522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90336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ct val="25000"/>
                <a:buFont typeface="Calibri"/>
                <a:buNone/>
                <a:defRPr/>
              </a:pP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카카오 경로 연동:</a:t>
              </a:r>
              <a:r>
                <a:rPr lang="ko-KR" alt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 </a:t>
              </a:r>
              <a:r>
                <a:rPr lang="en-US" sz="727" b="1" i="0" u="none" strike="noStrike" cap="none">
                  <a:solidFill>
                    <a:srgbClr val="333333"/>
                  </a:solidFill>
                  <a:latin typeface="맑은 고딕"/>
                  <a:ea typeface="맑은 고딕"/>
                  <a:cs typeface="Calibri"/>
                  <a:sym typeface="Calibri"/>
                </a:rPr>
                <a:t>출발/목적지 입력 시 최적 경로 표시 (kakao.maps.services 활용)</a:t>
              </a:r>
              <a:endParaRPr lang="en-US" sz="7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  <p:sp>
          <p:nvSpPr>
            <p:cNvPr id="164" name="Google Shape;164;g3b2fabebe57_2_62"/>
            <p:cNvSpPr/>
            <p:nvPr/>
          </p:nvSpPr>
          <p:spPr>
            <a:xfrm>
              <a:off x="269208" y="1323185"/>
              <a:ext cx="2095941" cy="207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18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5722"/>
                </a:buClr>
                <a:buSzPct val="25000"/>
                <a:buFont typeface="Calibri"/>
                <a:buNone/>
                <a:defRPr/>
              </a:pPr>
              <a:r>
                <a:rPr lang="en-US" sz="1087" b="1" i="0" u="none" strike="noStrike" cap="none">
                  <a:solidFill>
                    <a:srgbClr val="ff5722"/>
                  </a:solidFill>
                  <a:latin typeface="맑은 고딕"/>
                  <a:ea typeface="맑은 고딕"/>
                  <a:cs typeface="Calibri"/>
                  <a:sym typeface="Calibri"/>
                </a:rPr>
                <a:t>핵심 기능 (Core Features)</a:t>
              </a:r>
              <a:endParaRPr sz="1087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endParaRPr>
            </a:p>
          </p:txBody>
        </p:sp>
      </p:grpSp>
      <p:sp>
        <p:nvSpPr>
          <p:cNvPr id="165" name="Google Shape;165;g3b2fabebe57_2_62"/>
          <p:cNvSpPr/>
          <p:nvPr/>
        </p:nvSpPr>
        <p:spPr>
          <a:xfrm rot="5400000">
            <a:off x="2506875" y="-845158"/>
            <a:ext cx="20700" cy="37773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167" name="Google Shape;167;g3b2fabebe57_2_62"/>
          <p:cNvSpPr/>
          <p:nvPr/>
        </p:nvSpPr>
        <p:spPr>
          <a:xfrm rot="5400000">
            <a:off x="4561650" y="-504363"/>
            <a:ext cx="20700" cy="78870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7" descr="preencoded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</p:pic>
      <p:sp>
        <p:nvSpPr>
          <p:cNvPr id="174" name="Google Shape;174;p7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4. 화면 구성 및 UI/UX 개요 - [1]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pic>
        <p:nvPicPr>
          <p:cNvPr id="175" name="Google Shape;175;p7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275725" y="1525042"/>
            <a:ext cx="3759251" cy="275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/>
          <p:cNvPicPr/>
          <p:nvPr/>
        </p:nvPicPr>
        <p:blipFill rotWithShape="1">
          <a:blip r:embed="rId5">
            <a:alphaModFix/>
          </a:blip>
          <a:stretch>
            <a:fillRect/>
          </a:stretch>
        </p:blipFill>
        <p:spPr>
          <a:xfrm>
            <a:off x="4774680" y="1525029"/>
            <a:ext cx="3727776" cy="270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275725" y="986517"/>
            <a:ext cx="2755274" cy="433275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[1] 출발/도착지 입력 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74668" y="986517"/>
            <a:ext cx="3221775" cy="439525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[2] 경로 내 휴게소 목록 출력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6</a:t>
            </a:fld>
            <a:endParaRPr 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b2fabebe57_2_29" descr="preencoded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</p:pic>
      <p:sp>
        <p:nvSpPr>
          <p:cNvPr id="186" name="Google Shape;186;g3b2fabebe57_2_29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4. 화면 구성 및 UI/UX 개요 - [2]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pic>
        <p:nvPicPr>
          <p:cNvPr id="187" name="Google Shape;187;g3b2fabebe57_2_29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275725" y="1525042"/>
            <a:ext cx="3759251" cy="275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b2fabebe57_2_29"/>
          <p:cNvPicPr/>
          <p:nvPr/>
        </p:nvPicPr>
        <p:blipFill rotWithShape="1">
          <a:blip r:embed="rId5">
            <a:alphaModFix/>
          </a:blip>
          <a:stretch>
            <a:fillRect/>
          </a:stretch>
        </p:blipFill>
        <p:spPr>
          <a:xfrm>
            <a:off x="4774680" y="1525029"/>
            <a:ext cx="3727776" cy="270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b2fabebe57_2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7</a:t>
            </a:fld>
            <a:endParaRPr lang="en-US">
              <a:latin typeface="맑은 고딕"/>
              <a:ea typeface="맑은 고딕"/>
            </a:endParaRPr>
          </a:p>
        </p:txBody>
      </p:sp>
      <p:pic>
        <p:nvPicPr>
          <p:cNvPr id="190" name="Google Shape;190;g3b2fabebe57_2_29"/>
          <p:cNvPicPr/>
          <p:nvPr/>
        </p:nvPicPr>
        <p:blipFill rotWithShape="1">
          <a:blip r:embed="rId6">
            <a:alphaModFix/>
          </a:blip>
          <a:stretch>
            <a:fillRect/>
          </a:stretch>
        </p:blipFill>
        <p:spPr>
          <a:xfrm>
            <a:off x="275731" y="1525018"/>
            <a:ext cx="3759251" cy="270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b2fabebe57_2_29"/>
          <p:cNvPicPr/>
          <p:nvPr/>
        </p:nvPicPr>
        <p:blipFill rotWithShape="1">
          <a:blip r:embed="rId7">
            <a:alphaModFix/>
          </a:blip>
          <a:stretch>
            <a:fillRect/>
          </a:stretch>
        </p:blipFill>
        <p:spPr>
          <a:xfrm>
            <a:off x="4774667" y="1525018"/>
            <a:ext cx="3727798" cy="270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b2fabebe57_2_29"/>
          <p:cNvSpPr/>
          <p:nvPr/>
        </p:nvSpPr>
        <p:spPr>
          <a:xfrm>
            <a:off x="275731" y="983243"/>
            <a:ext cx="2176350" cy="442800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[3] 휴게소 상세 정보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193" name="Google Shape;193;g3b2fabebe57_2_29"/>
          <p:cNvSpPr/>
          <p:nvPr/>
        </p:nvSpPr>
        <p:spPr>
          <a:xfrm>
            <a:off x="4774679" y="983243"/>
            <a:ext cx="2520300" cy="442800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[4] 카카오맵 연동 페이지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b2fabebe57_2_4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152400" y="961125"/>
            <a:ext cx="5103926" cy="392365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b2fabebe57_2_44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5. 프로그램 시연 - [1]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01" name="Google Shape;201;g3b2fabebe57_2_44"/>
          <p:cNvSpPr/>
          <p:nvPr/>
        </p:nvSpPr>
        <p:spPr>
          <a:xfrm>
            <a:off x="1835875" y="2293450"/>
            <a:ext cx="1569900" cy="2010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02" name="Google Shape;202;g3b2fabebe57_2_44"/>
          <p:cNvSpPr/>
          <p:nvPr/>
        </p:nvSpPr>
        <p:spPr>
          <a:xfrm>
            <a:off x="1835875" y="2881414"/>
            <a:ext cx="1569900" cy="2010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03" name="Google Shape;203;g3b2fabebe57_2_44"/>
          <p:cNvSpPr/>
          <p:nvPr/>
        </p:nvSpPr>
        <p:spPr>
          <a:xfrm>
            <a:off x="1801600" y="3103610"/>
            <a:ext cx="1652100" cy="2967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04" name="Google Shape;204;g3b2fabebe57_2_44"/>
          <p:cNvSpPr/>
          <p:nvPr/>
        </p:nvSpPr>
        <p:spPr>
          <a:xfrm>
            <a:off x="5893199" y="1611475"/>
            <a:ext cx="2439600" cy="473325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[1] 출발지 입력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05" name="Google Shape;205;g3b2fabebe57_2_44"/>
          <p:cNvSpPr/>
          <p:nvPr/>
        </p:nvSpPr>
        <p:spPr>
          <a:xfrm>
            <a:off x="5893200" y="2431700"/>
            <a:ext cx="2439600" cy="449714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[2] 도착지 입력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06" name="Google Shape;206;g3b2fabebe57_2_44"/>
          <p:cNvSpPr/>
          <p:nvPr/>
        </p:nvSpPr>
        <p:spPr>
          <a:xfrm>
            <a:off x="5893203" y="3251950"/>
            <a:ext cx="2439600" cy="442800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[3] 경로 내 휴게소 탐색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cxnSp>
        <p:nvCxnSpPr>
          <p:cNvPr id="207" name="Google Shape;207;g3b2fabebe57_2_44"/>
          <p:cNvCxnSpPr>
            <a:stCxn id="201" idx="3"/>
            <a:endCxn id="204" idx="1"/>
          </p:cNvCxnSpPr>
          <p:nvPr/>
        </p:nvCxnSpPr>
        <p:spPr>
          <a:xfrm flipV="1">
            <a:off x="3405775" y="1848137"/>
            <a:ext cx="2487424" cy="54581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cxnSp>
        <p:nvCxnSpPr>
          <p:cNvPr id="208" name="Google Shape;208;g3b2fabebe57_2_44"/>
          <p:cNvCxnSpPr>
            <a:stCxn id="202" idx="3"/>
            <a:endCxn id="205" idx="1"/>
          </p:cNvCxnSpPr>
          <p:nvPr/>
        </p:nvCxnSpPr>
        <p:spPr>
          <a:xfrm flipV="1">
            <a:off x="3405775" y="2656557"/>
            <a:ext cx="2487425" cy="325357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cxnSp>
        <p:nvCxnSpPr>
          <p:cNvPr id="209" name="Google Shape;209;g3b2fabebe57_2_44"/>
          <p:cNvCxnSpPr>
            <a:stCxn id="203" idx="3"/>
            <a:endCxn id="206" idx="1"/>
          </p:cNvCxnSpPr>
          <p:nvPr/>
        </p:nvCxnSpPr>
        <p:spPr>
          <a:xfrm>
            <a:off x="3453700" y="3251960"/>
            <a:ext cx="2439503" cy="22139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sp>
        <p:nvSpPr>
          <p:cNvPr id="210" name="Google Shape;210;g3b2fabebe57_2_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8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211" name="Google Shape;211;g3b2fabebe57_2_44"/>
          <p:cNvSpPr txBox="1"/>
          <p:nvPr/>
        </p:nvSpPr>
        <p:spPr>
          <a:xfrm>
            <a:off x="6027175" y="1111050"/>
            <a:ext cx="354000" cy="201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1eee629cd_3_49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5. 프로그램 시연 - [2]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18" name="Google Shape;218;g3b1eee629cd_3_49"/>
          <p:cNvSpPr/>
          <p:nvPr/>
        </p:nvSpPr>
        <p:spPr>
          <a:xfrm>
            <a:off x="1835875" y="2293450"/>
            <a:ext cx="1569900" cy="2010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19" name="Google Shape;219;g3b1eee629cd_3_49"/>
          <p:cNvSpPr/>
          <p:nvPr/>
        </p:nvSpPr>
        <p:spPr>
          <a:xfrm>
            <a:off x="1835875" y="2881414"/>
            <a:ext cx="1569900" cy="2010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20" name="Google Shape;220;g3b1eee629cd_3_49"/>
          <p:cNvSpPr/>
          <p:nvPr/>
        </p:nvSpPr>
        <p:spPr>
          <a:xfrm>
            <a:off x="1801600" y="3103610"/>
            <a:ext cx="1652100" cy="2967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pic>
        <p:nvPicPr>
          <p:cNvPr id="221" name="Google Shape;221;g3b1eee629cd_3_49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139708" y="964113"/>
            <a:ext cx="5440512" cy="418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b1eee629cd_3_49"/>
          <p:cNvSpPr/>
          <p:nvPr/>
        </p:nvSpPr>
        <p:spPr>
          <a:xfrm>
            <a:off x="5893175" y="2981914"/>
            <a:ext cx="2375700" cy="418386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[4] 지도 내 경로 확인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cxnSp>
        <p:nvCxnSpPr>
          <p:cNvPr id="223" name="Google Shape;223;g3b1eee629cd_3_49"/>
          <p:cNvCxnSpPr>
            <a:stCxn id="224" idx="3"/>
            <a:endCxn id="222" idx="1"/>
          </p:cNvCxnSpPr>
          <p:nvPr/>
        </p:nvCxnSpPr>
        <p:spPr>
          <a:xfrm flipV="1">
            <a:off x="4380563" y="3191107"/>
            <a:ext cx="1512612" cy="713658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sp>
        <p:nvSpPr>
          <p:cNvPr id="224" name="Google Shape;224;g3b1eee629cd_3_49"/>
          <p:cNvSpPr/>
          <p:nvPr/>
        </p:nvSpPr>
        <p:spPr>
          <a:xfrm>
            <a:off x="1101263" y="2920315"/>
            <a:ext cx="3279300" cy="19689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25" name="Google Shape;225;g3b1eee629cd_3_49"/>
          <p:cNvSpPr/>
          <p:nvPr/>
        </p:nvSpPr>
        <p:spPr>
          <a:xfrm>
            <a:off x="1845163" y="2408865"/>
            <a:ext cx="1800900" cy="2967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26" name="Google Shape;226;g3b1eee629cd_3_49"/>
          <p:cNvSpPr/>
          <p:nvPr/>
        </p:nvSpPr>
        <p:spPr>
          <a:xfrm>
            <a:off x="5893200" y="3904775"/>
            <a:ext cx="2375675" cy="652800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[5] 휴게소 목록 </a:t>
            </a:r>
            <a:endParaRPr lang="en-US" sz="1500" b="1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    </a:t>
            </a:r>
            <a:r>
              <a:rPr lang="ko-KR" alt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 </a:t>
            </a: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맨 하단으로 이동</a:t>
            </a:r>
            <a:endParaRPr lang="en-US" sz="1500" b="1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27" name="Google Shape;227;g3b1eee629cd_3_49"/>
          <p:cNvSpPr/>
          <p:nvPr/>
        </p:nvSpPr>
        <p:spPr>
          <a:xfrm>
            <a:off x="1126173" y="4600650"/>
            <a:ext cx="3221400" cy="2553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228" name="Google Shape;228;g3b1eee629cd_3_49"/>
          <p:cNvCxnSpPr>
            <a:stCxn id="227" idx="3"/>
            <a:endCxn id="226" idx="1"/>
          </p:cNvCxnSpPr>
          <p:nvPr/>
        </p:nvCxnSpPr>
        <p:spPr>
          <a:xfrm flipV="1">
            <a:off x="4347573" y="4231175"/>
            <a:ext cx="1545627" cy="4971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sp>
        <p:nvSpPr>
          <p:cNvPr id="229" name="Google Shape;229;g3b1eee629cd_3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9</a:t>
            </a:fld>
            <a:endParaRPr 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1eee629cd_3_82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5. 프로그램 시연 - [3]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pic>
        <p:nvPicPr>
          <p:cNvPr id="236" name="Google Shape;236;g3b1eee629cd_3_82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139700" y="964113"/>
            <a:ext cx="5344147" cy="4108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b1eee629cd_3_82"/>
          <p:cNvSpPr/>
          <p:nvPr/>
        </p:nvSpPr>
        <p:spPr>
          <a:xfrm>
            <a:off x="1585425" y="1760950"/>
            <a:ext cx="2345100" cy="6444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238" name="Google Shape;238;g3b1eee629cd_3_82"/>
          <p:cNvCxnSpPr>
            <a:stCxn id="237" idx="3"/>
            <a:endCxn id="239" idx="1"/>
          </p:cNvCxnSpPr>
          <p:nvPr/>
        </p:nvCxnSpPr>
        <p:spPr>
          <a:xfrm>
            <a:off x="3930525" y="2083150"/>
            <a:ext cx="1872900" cy="397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sp>
        <p:nvSpPr>
          <p:cNvPr id="239" name="Google Shape;239;g3b1eee629cd_3_82"/>
          <p:cNvSpPr/>
          <p:nvPr/>
        </p:nvSpPr>
        <p:spPr>
          <a:xfrm>
            <a:off x="5803550" y="1836800"/>
            <a:ext cx="2481900" cy="1288200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[6] 휴게소 별 정보 안내</a:t>
            </a:r>
            <a:endParaRPr lang="en-US" sz="1500" b="1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- 도로노선명</a:t>
            </a:r>
            <a:endParaRPr lang="en-US" sz="1200" b="1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- BEST 인기메뉴</a:t>
            </a:r>
            <a:endParaRPr lang="en-US" sz="1200" b="1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- 편의 시설 안내</a:t>
            </a:r>
            <a:endParaRPr sz="1200" b="1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40" name="Google Shape;240;g3b1eee629cd_3_82"/>
          <p:cNvSpPr/>
          <p:nvPr/>
        </p:nvSpPr>
        <p:spPr>
          <a:xfrm>
            <a:off x="3423374" y="2068350"/>
            <a:ext cx="450900" cy="2745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41" name="Google Shape;241;g3b1eee629cd_3_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10</a:t>
            </a:fld>
            <a:endParaRPr 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1eee629cd_3_157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5. 프로그램 시연 - [4]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pic>
        <p:nvPicPr>
          <p:cNvPr id="248" name="Google Shape;248;g3b1eee629cd_3_157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139700" y="964113"/>
            <a:ext cx="5344147" cy="4108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b1eee629cd_3_157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139700" y="964120"/>
            <a:ext cx="5344150" cy="410831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b1eee629cd_3_157"/>
          <p:cNvSpPr/>
          <p:nvPr/>
        </p:nvSpPr>
        <p:spPr>
          <a:xfrm>
            <a:off x="1833165" y="3523725"/>
            <a:ext cx="1741500" cy="4731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51" name="Google Shape;251;g3b1eee629cd_3_157"/>
          <p:cNvSpPr/>
          <p:nvPr/>
        </p:nvSpPr>
        <p:spPr>
          <a:xfrm>
            <a:off x="1833165" y="2831375"/>
            <a:ext cx="1741500" cy="4731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52" name="Google Shape;252;g3b1eee629cd_3_157"/>
          <p:cNvSpPr/>
          <p:nvPr/>
        </p:nvSpPr>
        <p:spPr>
          <a:xfrm>
            <a:off x="1833175" y="4025250"/>
            <a:ext cx="1741500" cy="2559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253" name="Google Shape;253;g3b1eee629cd_3_157"/>
          <p:cNvCxnSpPr>
            <a:stCxn id="251" idx="3"/>
            <a:endCxn id="254" idx="1"/>
          </p:cNvCxnSpPr>
          <p:nvPr/>
        </p:nvCxnSpPr>
        <p:spPr>
          <a:xfrm flipV="1">
            <a:off x="3574665" y="1784262"/>
            <a:ext cx="2478035" cy="128366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sp>
        <p:nvSpPr>
          <p:cNvPr id="254" name="Google Shape;254;g3b1eee629cd_3_157"/>
          <p:cNvSpPr/>
          <p:nvPr/>
        </p:nvSpPr>
        <p:spPr>
          <a:xfrm>
            <a:off x="6052700" y="1558100"/>
            <a:ext cx="1984200" cy="452325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[7] BEST 메뉴 안내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cxnSp>
        <p:nvCxnSpPr>
          <p:cNvPr id="255" name="Google Shape;255;g3b1eee629cd_3_157"/>
          <p:cNvCxnSpPr>
            <a:stCxn id="250" idx="3"/>
            <a:endCxn id="256" idx="1"/>
          </p:cNvCxnSpPr>
          <p:nvPr/>
        </p:nvCxnSpPr>
        <p:spPr>
          <a:xfrm flipV="1">
            <a:off x="3574665" y="2794800"/>
            <a:ext cx="2478035" cy="96547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sp>
        <p:nvSpPr>
          <p:cNvPr id="256" name="Google Shape;256;g3b1eee629cd_3_157"/>
          <p:cNvSpPr/>
          <p:nvPr/>
        </p:nvSpPr>
        <p:spPr>
          <a:xfrm>
            <a:off x="6052700" y="2571750"/>
            <a:ext cx="1984200" cy="446100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[8] 편의 시설 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cxnSp>
        <p:nvCxnSpPr>
          <p:cNvPr id="257" name="Google Shape;257;g3b1eee629cd_3_157"/>
          <p:cNvCxnSpPr>
            <a:stCxn id="252" idx="3"/>
            <a:endCxn id="258" idx="1"/>
          </p:cNvCxnSpPr>
          <p:nvPr/>
        </p:nvCxnSpPr>
        <p:spPr>
          <a:xfrm flipV="1">
            <a:off x="3574675" y="3774487"/>
            <a:ext cx="2478025" cy="37871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sp>
        <p:nvSpPr>
          <p:cNvPr id="258" name="Google Shape;258;g3b1eee629cd_3_157"/>
          <p:cNvSpPr/>
          <p:nvPr/>
        </p:nvSpPr>
        <p:spPr>
          <a:xfrm>
            <a:off x="6052700" y="3523725"/>
            <a:ext cx="1984200" cy="501525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[10] 카카오맵 이동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59" name="Google Shape;259;g3b1eee629cd_3_1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11</a:t>
            </a:fld>
            <a:endParaRPr 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1eee629cd_3_173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5. 프로그램 시연 - [5]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pic>
        <p:nvPicPr>
          <p:cNvPr id="266" name="Google Shape;266;g3b1eee629cd_3_17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5691025" y="1882524"/>
            <a:ext cx="3327926" cy="255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b1eee629cd_3_173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139700" y="964120"/>
            <a:ext cx="5344150" cy="410831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b1eee629cd_3_173"/>
          <p:cNvSpPr/>
          <p:nvPr/>
        </p:nvSpPr>
        <p:spPr>
          <a:xfrm>
            <a:off x="1833175" y="4025250"/>
            <a:ext cx="1741500" cy="2559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w="sm" len="sm"/>
            <a:tailEnd w="sm" len="sm"/>
          </a:ln>
          <a:effectLst>
            <a:outerShdw blurRad="57150" dist="19050" dir="2400000" algn="bl" rotWithShape="0">
              <a:srgbClr val="000000">
                <a:alpha val="14000"/>
              </a:srgbClr>
            </a:outerShdw>
          </a:effectLst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269" name="Google Shape;269;g3b1eee629cd_3_173"/>
          <p:cNvCxnSpPr>
            <a:stCxn id="268" idx="3"/>
            <a:endCxn id="266" idx="1"/>
          </p:cNvCxnSpPr>
          <p:nvPr/>
        </p:nvCxnSpPr>
        <p:spPr>
          <a:xfrm rot="10800000" flipH="1">
            <a:off x="3574675" y="3161700"/>
            <a:ext cx="2116500" cy="991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w="med" len="med"/>
            <a:tailEnd type="triangle" w="med" len="med"/>
          </a:ln>
        </p:spPr>
      </p:cxnSp>
      <p:sp>
        <p:nvSpPr>
          <p:cNvPr id="270" name="Google Shape;270;g3b1eee629cd_3_173"/>
          <p:cNvSpPr/>
          <p:nvPr/>
        </p:nvSpPr>
        <p:spPr>
          <a:xfrm>
            <a:off x="5691027" y="1313350"/>
            <a:ext cx="2066700" cy="452325"/>
          </a:xfrm>
          <a:prstGeom prst="rect">
            <a:avLst/>
          </a:prstGeom>
          <a:noFill/>
          <a:ln w="9525" cap="flat" cmpd="sng">
            <a:solidFill>
              <a:srgbClr val="ff5722"/>
            </a:solidFill>
            <a:prstDash val="solid"/>
            <a:round/>
            <a:headEnd w="sm" len="sm"/>
            <a:tailEnd w="sm" len="sm"/>
          </a:ln>
        </p:spPr>
        <p:txBody>
          <a:bodyPr wrap="square" lIns="212575" tIns="0" rIns="0" bIns="0" anchor="ctr" anchorCtr="0">
            <a:no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[11] 카카오맵 이동</a:t>
            </a:r>
            <a:endParaRPr sz="150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71" name="Google Shape;271;g3b1eee629cd_3_1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12</a:t>
            </a:fld>
            <a:endParaRPr 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ae6def66a_0_301"/>
          <p:cNvSpPr/>
          <p:nvPr/>
        </p:nvSpPr>
        <p:spPr>
          <a:xfrm>
            <a:off x="357203" y="830990"/>
            <a:ext cx="3279300" cy="2899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5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Flask 애플리케이션의 핵심 5개 파일</a:t>
            </a:r>
            <a:endParaRPr sz="1500" b="0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78" name="Google Shape;278;g3aae6def66a_0_301"/>
          <p:cNvSpPr/>
          <p:nvPr/>
        </p:nvSpPr>
        <p:spPr>
          <a:xfrm>
            <a:off x="405300" y="1265100"/>
            <a:ext cx="843600" cy="24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13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파일 트리</a:t>
            </a:r>
            <a:endParaRPr sz="113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79" name="Google Shape;279;g3aae6def66a_0_301"/>
          <p:cNvSpPr/>
          <p:nvPr/>
        </p:nvSpPr>
        <p:spPr>
          <a:xfrm>
            <a:off x="405300" y="1726806"/>
            <a:ext cx="2220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0052cc"/>
                </a:solidFill>
                <a:latin typeface="맑은 고딕"/>
                <a:ea typeface="맑은 고딕"/>
                <a:cs typeface="Calibri"/>
              </a:rPr>
              <a:t>📁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0" name="Google Shape;280;g3aae6def66a_0_301"/>
          <p:cNvSpPr/>
          <p:nvPr/>
        </p:nvSpPr>
        <p:spPr>
          <a:xfrm>
            <a:off x="737306" y="1726806"/>
            <a:ext cx="24591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1218_REST_AREA-MAIN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1" name="Google Shape;281;g3aae6def66a_0_301"/>
          <p:cNvSpPr/>
          <p:nvPr/>
        </p:nvSpPr>
        <p:spPr>
          <a:xfrm>
            <a:off x="405300" y="2075397"/>
            <a:ext cx="2220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0052cc"/>
                </a:solidFill>
                <a:latin typeface="맑은 고딕"/>
                <a:ea typeface="맑은 고딕"/>
                <a:cs typeface="Calibri"/>
              </a:rPr>
              <a:t>📁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2" name="Google Shape;282;g3aae6def66a_0_301"/>
          <p:cNvSpPr/>
          <p:nvPr/>
        </p:nvSpPr>
        <p:spPr>
          <a:xfrm>
            <a:off x="737306" y="2075397"/>
            <a:ext cx="5757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static/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3" name="Google Shape;283;g3aae6def66a_0_301"/>
          <p:cNvSpPr/>
          <p:nvPr/>
        </p:nvSpPr>
        <p:spPr>
          <a:xfrm>
            <a:off x="737306" y="2423989"/>
            <a:ext cx="2220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0052cc"/>
                </a:solidFill>
                <a:latin typeface="맑은 고딕"/>
                <a:ea typeface="맑은 고딕"/>
                <a:cs typeface="Calibri"/>
              </a:rPr>
              <a:t>📄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4" name="Google Shape;284;g3aae6def66a_0_301"/>
          <p:cNvSpPr/>
          <p:nvPr/>
        </p:nvSpPr>
        <p:spPr>
          <a:xfrm>
            <a:off x="1069313" y="2423989"/>
            <a:ext cx="6696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main.js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5" name="Google Shape;285;g3aae6def66a_0_301"/>
          <p:cNvSpPr/>
          <p:nvPr/>
        </p:nvSpPr>
        <p:spPr>
          <a:xfrm>
            <a:off x="737306" y="2772580"/>
            <a:ext cx="2220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0052cc"/>
                </a:solidFill>
                <a:latin typeface="맑은 고딕"/>
                <a:ea typeface="맑은 고딕"/>
                <a:cs typeface="Calibri"/>
              </a:rPr>
              <a:t>🎨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6" name="Google Shape;286;g3aae6def66a_0_301"/>
          <p:cNvSpPr/>
          <p:nvPr/>
        </p:nvSpPr>
        <p:spPr>
          <a:xfrm>
            <a:off x="1069313" y="2772580"/>
            <a:ext cx="7683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style.css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7" name="Google Shape;287;g3aae6def66a_0_301"/>
          <p:cNvSpPr/>
          <p:nvPr/>
        </p:nvSpPr>
        <p:spPr>
          <a:xfrm>
            <a:off x="405300" y="3121171"/>
            <a:ext cx="2220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0052cc"/>
                </a:solidFill>
                <a:latin typeface="맑은 고딕"/>
                <a:ea typeface="맑은 고딕"/>
                <a:cs typeface="Calibri"/>
              </a:rPr>
              <a:t>📁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8" name="Google Shape;288;g3aae6def66a_0_301"/>
          <p:cNvSpPr/>
          <p:nvPr/>
        </p:nvSpPr>
        <p:spPr>
          <a:xfrm>
            <a:off x="737306" y="3121171"/>
            <a:ext cx="10056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templates/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89" name="Google Shape;289;g3aae6def66a_0_301"/>
          <p:cNvSpPr/>
          <p:nvPr/>
        </p:nvSpPr>
        <p:spPr>
          <a:xfrm>
            <a:off x="737306" y="3469762"/>
            <a:ext cx="2220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0052cc"/>
                </a:solidFill>
                <a:latin typeface="맑은 고딕"/>
                <a:ea typeface="맑은 고딕"/>
                <a:cs typeface="Calibri"/>
              </a:rPr>
              <a:t>📄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0" name="Google Shape;290;g3aae6def66a_0_301"/>
          <p:cNvSpPr/>
          <p:nvPr/>
        </p:nvSpPr>
        <p:spPr>
          <a:xfrm>
            <a:off x="1069313" y="3469762"/>
            <a:ext cx="9924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index.html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1" name="Google Shape;291;g3aae6def66a_0_301"/>
          <p:cNvSpPr/>
          <p:nvPr/>
        </p:nvSpPr>
        <p:spPr>
          <a:xfrm>
            <a:off x="405300" y="3929021"/>
            <a:ext cx="2220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0052cc"/>
                </a:solidFill>
                <a:latin typeface="맑은 고딕"/>
                <a:ea typeface="맑은 고딕"/>
                <a:cs typeface="Calibri"/>
              </a:rPr>
              <a:t>🐍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2" name="Google Shape;292;g3aae6def66a_0_301"/>
          <p:cNvSpPr/>
          <p:nvPr/>
        </p:nvSpPr>
        <p:spPr>
          <a:xfrm>
            <a:off x="737306" y="3929021"/>
            <a:ext cx="6222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app.py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3" name="Google Shape;293;g3aae6def66a_0_301"/>
          <p:cNvSpPr/>
          <p:nvPr/>
        </p:nvSpPr>
        <p:spPr>
          <a:xfrm>
            <a:off x="405300" y="4277612"/>
            <a:ext cx="2220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0052cc"/>
                </a:solidFill>
                <a:latin typeface="맑은 고딕"/>
                <a:ea typeface="맑은 고딕"/>
                <a:cs typeface="Calibri"/>
              </a:rPr>
              <a:t>🐍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4" name="Google Shape;294;g3aae6def66a_0_301"/>
          <p:cNvSpPr/>
          <p:nvPr/>
        </p:nvSpPr>
        <p:spPr>
          <a:xfrm>
            <a:off x="737306" y="4277612"/>
            <a:ext cx="511500" cy="34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322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db.py</a:t>
            </a:r>
            <a:endParaRPr sz="1322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5" name="Google Shape;295;g3aae6def66a_0_301"/>
          <p:cNvSpPr/>
          <p:nvPr/>
        </p:nvSpPr>
        <p:spPr>
          <a:xfrm>
            <a:off x="4752225" y="768800"/>
            <a:ext cx="4128600" cy="14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파일 역할</a:t>
            </a:r>
            <a:endParaRPr sz="1150" b="1" i="0" u="none" strike="noStrike" cap="none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6" name="Google Shape;296;g3aae6def66a_0_301"/>
          <p:cNvSpPr/>
          <p:nvPr/>
        </p:nvSpPr>
        <p:spPr>
          <a:xfrm>
            <a:off x="4830535" y="1302051"/>
            <a:ext cx="3972000" cy="15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카카오 지도 렌더링, 출발지/도착지 자동완성, 경로 요청, 휴게소 목록 렌더링</a:t>
            </a:r>
            <a:endParaRPr sz="900" b="1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7" name="Google Shape;297;g3aae6def66a_0_301"/>
          <p:cNvSpPr/>
          <p:nvPr/>
        </p:nvSpPr>
        <p:spPr>
          <a:xfrm>
            <a:off x="4830535" y="1120955"/>
            <a:ext cx="3972000" cy="14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5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main.js</a:t>
            </a:r>
            <a:endParaRPr sz="105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8" name="Google Shape;298;g3aae6def66a_0_301"/>
          <p:cNvSpPr/>
          <p:nvPr/>
        </p:nvSpPr>
        <p:spPr>
          <a:xfrm>
            <a:off x="4830535" y="1491139"/>
            <a:ext cx="667800" cy="1608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wrap="square" lIns="102975" tIns="102975" rIns="102975" bIns="102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299" name="Google Shape;299;g3aae6def66a_0_301"/>
          <p:cNvSpPr/>
          <p:nvPr/>
        </p:nvSpPr>
        <p:spPr>
          <a:xfrm>
            <a:off x="4830535" y="1491139"/>
            <a:ext cx="801150" cy="1608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57500" tIns="19150" rIns="57500" bIns="19150" anchor="ctr" anchorCtr="0">
            <a:noAutofit/>
          </a:bodyPr>
          <a:lstStyle/>
          <a:p>
            <a:pPr marL="0" marR="0" lvl="0" indent="0" algn="ctr" rtl="0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ct val="25000"/>
              <a:buFont typeface="Calibri"/>
              <a:buNone/>
              <a:defRPr/>
            </a:pPr>
            <a:r>
              <a:rPr lang="en-US" sz="700" b="1" i="0" u="none" strike="noStrike" cap="none">
                <a:solidFill>
                  <a:srgbClr val="f4f4f0"/>
                </a:solidFill>
                <a:latin typeface="맑은 고딕"/>
                <a:ea typeface="맑은 고딕"/>
                <a:cs typeface="Calibri"/>
                <a:sym typeface="Calibri"/>
              </a:rPr>
              <a:t>프론트엔드</a:t>
            </a:r>
            <a:r>
              <a:rPr lang="en-US" sz="601" b="1" i="0" u="none" strike="noStrike" cap="none">
                <a:solidFill>
                  <a:srgbClr val="f4f4f0"/>
                </a:solidFill>
                <a:latin typeface="맑은 고딕"/>
                <a:ea typeface="맑은 고딕"/>
                <a:cs typeface="Calibri"/>
                <a:sym typeface="Calibri"/>
              </a:rPr>
              <a:t> </a:t>
            </a:r>
            <a:r>
              <a:rPr lang="en-US" sz="800" b="1" i="0" u="none" strike="noStrike" cap="none">
                <a:solidFill>
                  <a:srgbClr val="f4f4f0"/>
                </a:solidFill>
                <a:latin typeface="맑은 고딕"/>
                <a:ea typeface="맑은 고딕"/>
                <a:cs typeface="Calibri"/>
                <a:sym typeface="Calibri"/>
              </a:rPr>
              <a:t>로직</a:t>
            </a:r>
            <a:endParaRPr sz="8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00" name="Google Shape;300;g3aae6def66a_0_301"/>
          <p:cNvSpPr/>
          <p:nvPr/>
        </p:nvSpPr>
        <p:spPr>
          <a:xfrm>
            <a:off x="4830535" y="1891373"/>
            <a:ext cx="3972000" cy="14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5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style.css</a:t>
            </a:r>
            <a:endParaRPr sz="105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01" name="Google Shape;301;g3aae6def66a_0_301"/>
          <p:cNvSpPr/>
          <p:nvPr/>
        </p:nvSpPr>
        <p:spPr>
          <a:xfrm>
            <a:off x="4830535" y="2084555"/>
            <a:ext cx="3972000" cy="15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전체 UI 스타일, 카드/모달/타임라인 레이아웃 정의</a:t>
            </a:r>
            <a:endParaRPr sz="900" b="1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02" name="Google Shape;302;g3aae6def66a_0_301"/>
          <p:cNvSpPr/>
          <p:nvPr/>
        </p:nvSpPr>
        <p:spPr>
          <a:xfrm>
            <a:off x="4830535" y="2273645"/>
            <a:ext cx="450300" cy="1608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wrap="square" lIns="102975" tIns="102975" rIns="102975" bIns="102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303" name="Google Shape;303;g3aae6def66a_0_301"/>
          <p:cNvSpPr/>
          <p:nvPr/>
        </p:nvSpPr>
        <p:spPr>
          <a:xfrm>
            <a:off x="4830535" y="2273645"/>
            <a:ext cx="801150" cy="1608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57500" tIns="19150" rIns="57500" bIns="19150" anchor="ctr" anchorCtr="0">
            <a:noAutofit/>
          </a:bodyPr>
          <a:lstStyle/>
          <a:p>
            <a:pPr marL="0" marR="0" lvl="0" indent="0" algn="ctr" rtl="0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ct val="25000"/>
              <a:buFont typeface="Calibri"/>
              <a:buNone/>
              <a:defRPr/>
            </a:pPr>
            <a:r>
              <a:rPr lang="en-US" sz="700" b="1" i="0" u="none" strike="noStrike" cap="none">
                <a:solidFill>
                  <a:srgbClr val="f4f4f0"/>
                </a:solidFill>
                <a:latin typeface="맑은 고딕"/>
                <a:ea typeface="맑은 고딕"/>
                <a:cs typeface="Calibri"/>
                <a:sym typeface="Calibri"/>
              </a:rPr>
              <a:t>UI 스타일</a:t>
            </a:r>
            <a:endParaRPr sz="7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04" name="Google Shape;304;g3aae6def66a_0_301"/>
          <p:cNvSpPr/>
          <p:nvPr/>
        </p:nvSpPr>
        <p:spPr>
          <a:xfrm>
            <a:off x="4830535" y="2673879"/>
            <a:ext cx="3972000" cy="14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5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index.html</a:t>
            </a:r>
            <a:endParaRPr sz="105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05" name="Google Shape;305;g3aae6def66a_0_301"/>
          <p:cNvSpPr/>
          <p:nvPr/>
        </p:nvSpPr>
        <p:spPr>
          <a:xfrm>
            <a:off x="4830535" y="2867061"/>
            <a:ext cx="3972000" cy="15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메인 화면 구조, 입력 UI, 지도 영역, 휴게소 리스트 모달</a:t>
            </a:r>
            <a:endParaRPr sz="900" b="1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06" name="Google Shape;306;g3aae6def66a_0_301"/>
          <p:cNvSpPr/>
          <p:nvPr/>
        </p:nvSpPr>
        <p:spPr>
          <a:xfrm>
            <a:off x="4830535" y="3056150"/>
            <a:ext cx="596700" cy="1608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wrap="square" lIns="102975" tIns="102975" rIns="102975" bIns="102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307" name="Google Shape;307;g3aae6def66a_0_301"/>
          <p:cNvSpPr/>
          <p:nvPr/>
        </p:nvSpPr>
        <p:spPr>
          <a:xfrm>
            <a:off x="4830535" y="3056150"/>
            <a:ext cx="801150" cy="1608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57500" tIns="19150" rIns="57500" bIns="19150" anchor="ctr" anchorCtr="0">
            <a:noAutofit/>
          </a:bodyPr>
          <a:lstStyle/>
          <a:p>
            <a:pPr marL="0" marR="0" lvl="0" indent="0" algn="ctr" rtl="0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ct val="25000"/>
              <a:buFont typeface="Calibri"/>
              <a:buNone/>
              <a:defRPr/>
            </a:pPr>
            <a:r>
              <a:rPr lang="en-US" sz="700" b="1" i="0" u="none" strike="noStrike" cap="none">
                <a:solidFill>
                  <a:srgbClr val="f4f4f0"/>
                </a:solidFill>
                <a:latin typeface="맑은 고딕"/>
                <a:ea typeface="맑은 고딕"/>
                <a:cs typeface="Calibri"/>
                <a:sym typeface="Calibri"/>
              </a:rPr>
              <a:t>HTML 템플릿</a:t>
            </a:r>
            <a:endParaRPr sz="7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08" name="Google Shape;308;g3aae6def66a_0_301"/>
          <p:cNvSpPr/>
          <p:nvPr/>
        </p:nvSpPr>
        <p:spPr>
          <a:xfrm>
            <a:off x="4830535" y="3456384"/>
            <a:ext cx="3972000" cy="14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5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app.py</a:t>
            </a:r>
            <a:endParaRPr sz="105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09" name="Google Shape;309;g3aae6def66a_0_301"/>
          <p:cNvSpPr/>
          <p:nvPr/>
        </p:nvSpPr>
        <p:spPr>
          <a:xfrm>
            <a:off x="4830535" y="3649567"/>
            <a:ext cx="3972000" cy="15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Flask 메인 서버, URL 라우팅, 외부 API 연동 (Kakao, Gemini)</a:t>
            </a:r>
            <a:endParaRPr sz="900" b="1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0" name="Google Shape;310;g3aae6def66a_0_301"/>
          <p:cNvSpPr/>
          <p:nvPr/>
        </p:nvSpPr>
        <p:spPr>
          <a:xfrm>
            <a:off x="4830535" y="3838655"/>
            <a:ext cx="667800" cy="1608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wrap="square" lIns="102975" tIns="102975" rIns="102975" bIns="102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311" name="Google Shape;311;g3aae6def66a_0_301"/>
          <p:cNvSpPr/>
          <p:nvPr/>
        </p:nvSpPr>
        <p:spPr>
          <a:xfrm>
            <a:off x="4830535" y="3838655"/>
            <a:ext cx="801150" cy="1608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57500" tIns="19150" rIns="57500" bIns="19150" anchor="ctr" anchorCtr="0">
            <a:noAutofit/>
          </a:bodyPr>
          <a:lstStyle/>
          <a:p>
            <a:pPr marL="0" marR="0" lvl="0" indent="0" algn="ctr" rtl="0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ct val="25000"/>
              <a:buFont typeface="Calibri"/>
              <a:buNone/>
              <a:defRPr/>
            </a:pPr>
            <a:r>
              <a:rPr lang="en-US" sz="700" b="1" i="0" u="none" strike="noStrike" cap="none">
                <a:solidFill>
                  <a:srgbClr val="f4f4f0"/>
                </a:solidFill>
                <a:latin typeface="맑은 고딕"/>
                <a:ea typeface="맑은 고딕"/>
                <a:cs typeface="Calibri"/>
                <a:sym typeface="Calibri"/>
              </a:rPr>
              <a:t>백엔드 컨트롤러</a:t>
            </a:r>
            <a:endParaRPr sz="7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2" name="Google Shape;312;g3aae6def66a_0_301"/>
          <p:cNvSpPr/>
          <p:nvPr/>
        </p:nvSpPr>
        <p:spPr>
          <a:xfrm>
            <a:off x="4830535" y="4238889"/>
            <a:ext cx="3972000" cy="14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5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db.py</a:t>
            </a:r>
            <a:endParaRPr sz="105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3" name="Google Shape;313;g3aae6def66a_0_301"/>
          <p:cNvSpPr/>
          <p:nvPr/>
        </p:nvSpPr>
        <p:spPr>
          <a:xfrm>
            <a:off x="4830535" y="4432073"/>
            <a:ext cx="3972000" cy="15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MariaDB 연결 관리, 휴게소 정보 조회 및 데이터 처리</a:t>
            </a:r>
            <a:endParaRPr sz="900" b="1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4" name="Google Shape;314;g3aae6def66a_0_301"/>
          <p:cNvSpPr/>
          <p:nvPr/>
        </p:nvSpPr>
        <p:spPr>
          <a:xfrm>
            <a:off x="4830535" y="4621161"/>
            <a:ext cx="510000" cy="1608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wrap="square" lIns="102975" tIns="102975" rIns="102975" bIns="102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315" name="Google Shape;315;g3aae6def66a_0_301"/>
          <p:cNvSpPr/>
          <p:nvPr/>
        </p:nvSpPr>
        <p:spPr>
          <a:xfrm>
            <a:off x="4830535" y="4621161"/>
            <a:ext cx="801150" cy="1608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57500" tIns="19150" rIns="57500" bIns="19150" anchor="ctr" anchorCtr="0">
            <a:noAutofit/>
          </a:bodyPr>
          <a:lstStyle/>
          <a:p>
            <a:pPr marL="0" marR="0" lvl="0" indent="0" algn="ctr" rtl="0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4f4f0"/>
              </a:buClr>
              <a:buSzPct val="25000"/>
              <a:buFont typeface="Calibri"/>
              <a:buNone/>
              <a:defRPr/>
            </a:pPr>
            <a:r>
              <a:rPr lang="en-US" sz="700" b="1" i="0" u="none" strike="noStrike" cap="none">
                <a:solidFill>
                  <a:srgbClr val="f4f4f0"/>
                </a:solidFill>
                <a:latin typeface="맑은 고딕"/>
                <a:ea typeface="맑은 고딕"/>
                <a:cs typeface="Calibri"/>
                <a:sym typeface="Calibri"/>
              </a:rPr>
              <a:t>데이터 계층</a:t>
            </a:r>
            <a:endParaRPr sz="700" b="0" i="0" u="none" strike="noStrike" cap="none">
              <a:solidFill>
                <a:srgbClr val="000000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6" name="Google Shape;316;g3aae6def66a_0_301"/>
          <p:cNvSpPr/>
          <p:nvPr/>
        </p:nvSpPr>
        <p:spPr>
          <a:xfrm>
            <a:off x="357200" y="357200"/>
            <a:ext cx="2260800" cy="41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0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6. </a:t>
            </a: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코드 상세 분석</a:t>
            </a: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7" name="Google Shape;317;g3aae6def66a_0_30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13</a:t>
            </a:fld>
            <a:endParaRPr 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ae6def66a_0_43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6. 코드 상세 분석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24" name="Google Shape;324;g3aae6def66a_0_43"/>
          <p:cNvSpPr/>
          <p:nvPr/>
        </p:nvSpPr>
        <p:spPr>
          <a:xfrm>
            <a:off x="357188" y="1369975"/>
            <a:ext cx="119100" cy="15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8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8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25" name="Google Shape;325;g3aae6def66a_0_43"/>
          <p:cNvSpPr/>
          <p:nvPr/>
        </p:nvSpPr>
        <p:spPr>
          <a:xfrm>
            <a:off x="535770" y="1293625"/>
            <a:ext cx="1043074" cy="343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geocode(query)</a:t>
            </a:r>
            <a:endParaRPr lang="en-US"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26" name="Google Shape;326;g3aae6def66a_0_43"/>
          <p:cNvSpPr/>
          <p:nvPr/>
        </p:nvSpPr>
        <p:spPr>
          <a:xfrm>
            <a:off x="1578844" y="1310875"/>
            <a:ext cx="28272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주소/장소를 좌표로 변환</a:t>
            </a:r>
            <a:endParaRPr sz="827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pic>
        <p:nvPicPr>
          <p:cNvPr id="327" name="Google Shape;327;g3aae6def66a_0_4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3770000" y="958700"/>
            <a:ext cx="2494800" cy="299378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aae6def66a_0_43"/>
          <p:cNvSpPr/>
          <p:nvPr/>
        </p:nvSpPr>
        <p:spPr>
          <a:xfrm>
            <a:off x="535789" y="1569573"/>
            <a:ext cx="2827200" cy="2586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</a:rPr>
              <a:t>역할</a:t>
            </a:r>
            <a:r>
              <a:rPr lang="ko-KR" altLang="en-US" sz="927" b="1">
                <a:solidFill>
                  <a:srgbClr val="333333"/>
                </a:solidFill>
                <a:latin typeface="맑은 고딕"/>
                <a:ea typeface="맑은 고딕"/>
              </a:rPr>
              <a:t>      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텍스트 주소를 위도 / 경도 좌표로 변환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329" name="Google Shape;329;g3aae6def66a_0_43"/>
          <p:cNvSpPr/>
          <p:nvPr/>
        </p:nvSpPr>
        <p:spPr>
          <a:xfrm>
            <a:off x="535784" y="1828264"/>
            <a:ext cx="2827205" cy="258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동작 로직</a:t>
            </a:r>
            <a:endParaRPr sz="9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30" name="Google Shape;330;g3aae6def66a_0_43"/>
          <p:cNvSpPr/>
          <p:nvPr/>
        </p:nvSpPr>
        <p:spPr>
          <a:xfrm>
            <a:off x="649425" y="2087025"/>
            <a:ext cx="2927400" cy="68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Kakao Local API(search/address.json) 을 호출하여 검색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결과가 없을 경우 search/keyword.json으로 키워드 재검색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[3] 성공 시(X, Y) 좌표 반환, 실패 시 ValueError 발생</a:t>
            </a: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331" name="Google Shape;331;g3aae6def66a_0_43"/>
          <p:cNvSpPr/>
          <p:nvPr/>
        </p:nvSpPr>
        <p:spPr>
          <a:xfrm>
            <a:off x="357138" y="3165878"/>
            <a:ext cx="119100" cy="15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8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8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32" name="Google Shape;332;g3aae6def66a_0_43"/>
          <p:cNvSpPr/>
          <p:nvPr/>
        </p:nvSpPr>
        <p:spPr>
          <a:xfrm>
            <a:off x="535750" y="3078935"/>
            <a:ext cx="2827239" cy="2399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get_route(origin, dest)</a:t>
            </a: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33" name="Google Shape;333;g3aae6def66a_0_43"/>
          <p:cNvSpPr/>
          <p:nvPr/>
        </p:nvSpPr>
        <p:spPr>
          <a:xfrm>
            <a:off x="1926259" y="3078935"/>
            <a:ext cx="1104300" cy="2399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경로 데이터 생성</a:t>
            </a:r>
            <a:endParaRPr sz="827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334" name="Google Shape;334;g3aae6def66a_0_43"/>
          <p:cNvSpPr/>
          <p:nvPr/>
        </p:nvSpPr>
        <p:spPr>
          <a:xfrm>
            <a:off x="535750" y="3318878"/>
            <a:ext cx="3041075" cy="2587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역할</a:t>
            </a:r>
            <a:r>
              <a:rPr 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 </a:t>
            </a:r>
            <a:r>
              <a:rPr lang="ko-KR" alt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      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출발지 / 목적지 사이의 추천 경로값 리스트 생성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335" name="Google Shape;335;g3aae6def66a_0_43"/>
          <p:cNvSpPr/>
          <p:nvPr/>
        </p:nvSpPr>
        <p:spPr>
          <a:xfrm>
            <a:off x="535759" y="3577592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동작 로직</a:t>
            </a:r>
            <a:endParaRPr sz="9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36" name="Google Shape;336;g3aae6def66a_0_43"/>
          <p:cNvSpPr/>
          <p:nvPr/>
        </p:nvSpPr>
        <p:spPr>
          <a:xfrm>
            <a:off x="649400" y="3836283"/>
            <a:ext cx="3120600" cy="1052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[[1] Kakao Mobility API(directions)에 origin, dest, 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ko-KR" altLang="en-US" sz="827">
                <a:solidFill>
                  <a:srgbClr val="333333"/>
                </a:solidFill>
                <a:latin typeface="맑은 고딕"/>
                <a:ea typeface="맑은 고딕"/>
              </a:rPr>
              <a:t>     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priority = “RECOMMEND” 전송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응답 JSON에서 sections -&gt; roads -&gt; vertexes 파싱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[3] 지도에 그릴 수 있는 (latitude, longitude) 튜플 리스트로 변환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pic>
        <p:nvPicPr>
          <p:cNvPr id="337" name="Google Shape;337;g3aae6def66a_0_43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6390650" y="958700"/>
            <a:ext cx="2396250" cy="322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aae6def66a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14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339" name="Google Shape;339;g3aae6def66a_0_43"/>
          <p:cNvSpPr/>
          <p:nvPr/>
        </p:nvSpPr>
        <p:spPr>
          <a:xfrm>
            <a:off x="357138" y="866430"/>
            <a:ext cx="8429700" cy="427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App</a:t>
            </a:r>
            <a:r>
              <a:rPr lang="en-US" sz="15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.py</a:t>
            </a:r>
            <a:endParaRPr sz="15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ae6def66a_0_92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6. 코드 상세 분석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6" name="Google Shape;346;g3aae6def66a_0_92"/>
          <p:cNvSpPr/>
          <p:nvPr/>
        </p:nvSpPr>
        <p:spPr>
          <a:xfrm>
            <a:off x="357138" y="866430"/>
            <a:ext cx="84297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187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App.</a:t>
            </a:r>
            <a:r>
              <a:rPr lang="en-US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py</a:t>
            </a:r>
            <a:endParaRPr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g3aae6def66a_0_92"/>
          <p:cNvSpPr/>
          <p:nvPr/>
        </p:nvSpPr>
        <p:spPr>
          <a:xfrm>
            <a:off x="357188" y="1355094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g3aae6def66a_0_92"/>
          <p:cNvSpPr/>
          <p:nvPr/>
        </p:nvSpPr>
        <p:spPr>
          <a:xfrm>
            <a:off x="535775" y="1293625"/>
            <a:ext cx="3076850" cy="2759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@app.route(“/route”, methods=[“POST”]) : 메인 로직</a:t>
            </a: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9" name="Google Shape;349;g3aae6def66a_0_92"/>
          <p:cNvSpPr/>
          <p:nvPr/>
        </p:nvSpPr>
        <p:spPr>
          <a:xfrm>
            <a:off x="535784" y="1569564"/>
            <a:ext cx="3002141" cy="25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Trigger</a:t>
            </a:r>
            <a:r>
              <a:rPr lang="en-US" sz="727" b="1">
                <a:solidFill>
                  <a:srgbClr val="333333"/>
                </a:solidFill>
                <a:ea typeface="맑은 고딕"/>
                <a:cs typeface="Calibri"/>
                <a:sym typeface="Calibri"/>
              </a:rPr>
              <a:t>	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사용자가 ‘검색하기’ 버튼 클릭 시</a:t>
            </a:r>
            <a:endParaRPr sz="827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350" name="Google Shape;350;g3aae6def66a_0_92"/>
          <p:cNvSpPr/>
          <p:nvPr/>
        </p:nvSpPr>
        <p:spPr>
          <a:xfrm>
            <a:off x="535784" y="1828264"/>
            <a:ext cx="2494800" cy="252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처리 순서</a:t>
            </a:r>
            <a:endParaRPr sz="9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51" name="Google Shape;351;g3aae6def66a_0_92"/>
          <p:cNvSpPr/>
          <p:nvPr/>
        </p:nvSpPr>
        <p:spPr>
          <a:xfrm>
            <a:off x="579325" y="2057325"/>
            <a:ext cx="3146400" cy="1146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geocode() : 출발지(start), 목적지(end)를 좌표로 변환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get.route() : 경로 좌표 데이터(route_points) 생성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[3] db.get_rest_areas() : DB에서 휴게소 목록 조회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[4] Response: 경로(route)와 휴게소 데이터(rests)를 JSON으로 변환</a:t>
            </a: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352" name="Google Shape;352;g3aae6def66a_0_92"/>
          <p:cNvSpPr/>
          <p:nvPr/>
        </p:nvSpPr>
        <p:spPr>
          <a:xfrm>
            <a:off x="357138" y="3253037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53" name="Google Shape;353;g3aae6def66a_0_92"/>
          <p:cNvSpPr/>
          <p:nvPr/>
        </p:nvSpPr>
        <p:spPr>
          <a:xfrm>
            <a:off x="535750" y="3203500"/>
            <a:ext cx="3076875" cy="25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@app.route(“/get_info”, methods=[“POST”]) : AI 연동</a:t>
            </a:r>
            <a:endParaRPr lang="en-US"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54" name="Google Shape;354;g3aae6def66a_0_92"/>
          <p:cNvSpPr/>
          <p:nvPr/>
        </p:nvSpPr>
        <p:spPr>
          <a:xfrm>
            <a:off x="517825" y="3561249"/>
            <a:ext cx="30948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Trigger </a:t>
            </a:r>
            <a:r>
              <a:rPr lang="en-US" sz="727" b="1">
                <a:solidFill>
                  <a:srgbClr val="333333"/>
                </a:solidFill>
                <a:ea typeface="맑은 고딕"/>
                <a:cs typeface="Calibri"/>
                <a:sym typeface="Calibri"/>
              </a:rPr>
              <a:t>	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사용자가 지도 상의 휴게소 상세 정보 요청 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시</a:t>
            </a:r>
            <a:endParaRPr sz="8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55" name="Google Shape;355;g3aae6def66a_0_92"/>
          <p:cNvSpPr/>
          <p:nvPr/>
        </p:nvSpPr>
        <p:spPr>
          <a:xfrm>
            <a:off x="535759" y="3819959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처리 순서</a:t>
            </a:r>
            <a:endParaRPr sz="9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56" name="Google Shape;356;g3aae6def66a_0_92"/>
          <p:cNvSpPr/>
          <p:nvPr/>
        </p:nvSpPr>
        <p:spPr>
          <a:xfrm>
            <a:off x="579325" y="4078750"/>
            <a:ext cx="3146400" cy="8679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Google Gemini API 호출(gemini-2.5-flash-lite)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Prompt: “해당 휴게소를 찾아서 실제로 판매중인 대표메뉴 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ko-KR" altLang="en-US" sz="827">
                <a:solidFill>
                  <a:srgbClr val="333333"/>
                </a:solidFill>
                <a:latin typeface="맑은 고딕"/>
                <a:ea typeface="맑은 고딕"/>
              </a:rPr>
              <a:t>                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추천 받기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[3] Response: AI가 생성한 텍스트 설명을 JSON으로 변환</a:t>
            </a: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pic>
        <p:nvPicPr>
          <p:cNvPr id="357" name="Google Shape;357;g3aae6def66a_0_92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3782425" y="958725"/>
            <a:ext cx="2396250" cy="362757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aae6def66a_0_9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15</a:t>
            </a:fld>
            <a:endParaRPr lang="en-US">
              <a:latin typeface="맑은 고딕"/>
              <a:ea typeface="맑은 고딕"/>
            </a:endParaRPr>
          </a:p>
        </p:txBody>
      </p:sp>
      <p:pic>
        <p:nvPicPr>
          <p:cNvPr id="359" name="Google Shape;359;g3aae6def66a_0_92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6275600" y="958725"/>
            <a:ext cx="2628900" cy="22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ae6def66a_0_116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6. 코드 상세 분석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66" name="Google Shape;366;g3aae6def66a_0_116"/>
          <p:cNvSpPr/>
          <p:nvPr/>
        </p:nvSpPr>
        <p:spPr>
          <a:xfrm>
            <a:off x="357138" y="845705"/>
            <a:ext cx="84297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Main</a:t>
            </a:r>
            <a:r>
              <a:rPr lang="en-US" sz="1187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.js</a:t>
            </a:r>
            <a:endParaRPr sz="118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67" name="Google Shape;367;g3aae6def66a_0_116"/>
          <p:cNvSpPr/>
          <p:nvPr/>
        </p:nvSpPr>
        <p:spPr>
          <a:xfrm>
            <a:off x="357188" y="1293625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68" name="Google Shape;368;g3aae6def66a_0_116"/>
          <p:cNvSpPr/>
          <p:nvPr/>
        </p:nvSpPr>
        <p:spPr>
          <a:xfrm>
            <a:off x="535785" y="1293625"/>
            <a:ext cx="2494800" cy="2759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초기화 (window.onload)</a:t>
            </a: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69" name="Google Shape;369;g3aae6def66a_0_116"/>
          <p:cNvSpPr/>
          <p:nvPr/>
        </p:nvSpPr>
        <p:spPr>
          <a:xfrm>
            <a:off x="535784" y="1569564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설명</a:t>
            </a:r>
            <a:endParaRPr sz="8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70" name="Google Shape;370;g3aae6def66a_0_116"/>
          <p:cNvSpPr/>
          <p:nvPr/>
        </p:nvSpPr>
        <p:spPr>
          <a:xfrm>
            <a:off x="636050" y="1828275"/>
            <a:ext cx="3428075" cy="59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Kakao.maps.Map : 지도 객체 생성 및 초기 중심 좌표 설정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이벤트 리스너 등록 : addInputListners(), setup OutsideClick() 호출</a:t>
            </a: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371" name="Google Shape;371;g3aae6def66a_0_116"/>
          <p:cNvSpPr/>
          <p:nvPr/>
        </p:nvSpPr>
        <p:spPr>
          <a:xfrm>
            <a:off x="357138" y="2908744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72" name="Google Shape;372;g3aae6def66a_0_116"/>
          <p:cNvSpPr/>
          <p:nvPr/>
        </p:nvSpPr>
        <p:spPr>
          <a:xfrm>
            <a:off x="535760" y="2848200"/>
            <a:ext cx="2713265" cy="3920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자동완성(autoComplete)</a:t>
            </a: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73" name="Google Shape;373;g3aae6def66a_0_116"/>
          <p:cNvSpPr/>
          <p:nvPr/>
        </p:nvSpPr>
        <p:spPr>
          <a:xfrm>
            <a:off x="517825" y="3117295"/>
            <a:ext cx="3546300" cy="2585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Trigger </a:t>
            </a:r>
            <a:r>
              <a:rPr lang="en-US" sz="827" b="1">
                <a:solidFill>
                  <a:srgbClr val="333333"/>
                </a:solidFill>
                <a:ea typeface="맑은 고딕"/>
                <a:cs typeface="Calibri"/>
                <a:sym typeface="Calibri"/>
              </a:rPr>
              <a:t>	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사용자가 입력창에 글자를 입력 시</a:t>
            </a:r>
            <a:endParaRPr sz="827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374" name="Google Shape;374;g3aae6def66a_0_116"/>
          <p:cNvSpPr/>
          <p:nvPr/>
        </p:nvSpPr>
        <p:spPr>
          <a:xfrm>
            <a:off x="535759" y="3498934"/>
            <a:ext cx="2494800" cy="2586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처리 순서</a:t>
            </a:r>
            <a:endParaRPr sz="8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75" name="Google Shape;375;g3aae6def66a_0_116"/>
          <p:cNvSpPr/>
          <p:nvPr/>
        </p:nvSpPr>
        <p:spPr>
          <a:xfrm>
            <a:off x="636025" y="3757625"/>
            <a:ext cx="3590025" cy="90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API : kakao.maps.services.Places().keyword Search() 사용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UI : 검색 결과를 리스트(DIV)로 생성하여 입력창 아래에 표시 및 클릭 시 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ko-KR" altLang="en-US" sz="827">
                <a:solidFill>
                  <a:srgbClr val="333333"/>
                </a:solidFill>
                <a:latin typeface="맑은 고딕"/>
                <a:ea typeface="맑은 고딕"/>
              </a:rPr>
              <a:t>          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해당 장소명 입력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376" name="Google Shape;376;g3aae6def66a_0_1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16</a:t>
            </a:fld>
            <a:endParaRPr lang="en-US">
              <a:latin typeface="맑은 고딕"/>
              <a:ea typeface="맑은 고딕"/>
            </a:endParaRPr>
          </a:p>
        </p:txBody>
      </p:sp>
      <p:pic>
        <p:nvPicPr>
          <p:cNvPr id="377" name="Google Shape;377;g3aae6def66a_0_1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4874200" y="289500"/>
            <a:ext cx="3003000" cy="2695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aae6def66a_0_116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4874200" y="3083757"/>
            <a:ext cx="2778675" cy="1954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ae6def66a_0_137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6. 코드 상세 분석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85" name="Google Shape;385;g3aae6def66a_0_137"/>
          <p:cNvSpPr/>
          <p:nvPr/>
        </p:nvSpPr>
        <p:spPr>
          <a:xfrm>
            <a:off x="357138" y="1363719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86" name="Google Shape;386;g3aae6def66a_0_137"/>
          <p:cNvSpPr/>
          <p:nvPr/>
        </p:nvSpPr>
        <p:spPr>
          <a:xfrm>
            <a:off x="535785" y="1310875"/>
            <a:ext cx="3237750" cy="2586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경로 데이터 요청(requestRoute)</a:t>
            </a: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87" name="Google Shape;387;g3aae6def66a_0_137"/>
          <p:cNvSpPr/>
          <p:nvPr/>
        </p:nvSpPr>
        <p:spPr>
          <a:xfrm>
            <a:off x="535784" y="1569564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설명</a:t>
            </a:r>
            <a:endParaRPr sz="8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88" name="Google Shape;388;g3aae6def66a_0_137"/>
          <p:cNvSpPr/>
          <p:nvPr/>
        </p:nvSpPr>
        <p:spPr>
          <a:xfrm>
            <a:off x="636050" y="1828275"/>
            <a:ext cx="2961300" cy="5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fetch(“/route”, POST) : 서버에 출발 / 도착지 전송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성공 시 drawRoute(data) 호출, 실패 시 에러 메시지 출력</a:t>
            </a: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389" name="Google Shape;389;g3aae6def66a_0_137"/>
          <p:cNvSpPr/>
          <p:nvPr/>
        </p:nvSpPr>
        <p:spPr>
          <a:xfrm>
            <a:off x="357188" y="2748394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90" name="Google Shape;390;g3aae6def66a_0_137"/>
          <p:cNvSpPr/>
          <p:nvPr/>
        </p:nvSpPr>
        <p:spPr>
          <a:xfrm>
            <a:off x="535785" y="2695550"/>
            <a:ext cx="2494800" cy="2586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지도 그리기(drawRoute)</a:t>
            </a: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91" name="Google Shape;391;g3aae6def66a_0_137"/>
          <p:cNvSpPr/>
          <p:nvPr/>
        </p:nvSpPr>
        <p:spPr>
          <a:xfrm>
            <a:off x="535784" y="2954239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설명</a:t>
            </a:r>
            <a:endParaRPr sz="8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92" name="Google Shape;392;g3aae6def66a_0_137"/>
          <p:cNvSpPr/>
          <p:nvPr/>
        </p:nvSpPr>
        <p:spPr>
          <a:xfrm>
            <a:off x="636050" y="3212950"/>
            <a:ext cx="4554450" cy="14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Polyline 생성 : 서버에서 입력 받은 좌표 배열을 kakao.maps.LatLng 객체로 변환 후 파란색 선으로 표시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화면 조정 : map.setBounds(bounds)를 통해 경로 전체가 보이도록 줌 레벨 고정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[3] 정보 계산 : calculateTotalDistance (총 거리) 및 estimateTime (예상 소요 시간) 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                   계산 후 표시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[4] 휴게소 처리 : drawRestAreas(data.rests) 호출하여 휴게소 로직 시작 </a:t>
            </a: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pic>
        <p:nvPicPr>
          <p:cNvPr id="393" name="Google Shape;393;g3aae6def66a_0_137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5448900" y="258041"/>
            <a:ext cx="2613001" cy="275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aae6def66a_0_137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5448900" y="3163717"/>
            <a:ext cx="3044400" cy="177165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aae6def66a_0_1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17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396" name="Google Shape;396;g3aae6def66a_0_137"/>
          <p:cNvSpPr/>
          <p:nvPr/>
        </p:nvSpPr>
        <p:spPr>
          <a:xfrm>
            <a:off x="357138" y="845705"/>
            <a:ext cx="84297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Main.js</a:t>
            </a:r>
            <a:endParaRPr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ae6def66a_0_205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6. 코드 상세 분석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03" name="Google Shape;403;g3aae6def66a_0_205"/>
          <p:cNvSpPr/>
          <p:nvPr/>
        </p:nvSpPr>
        <p:spPr>
          <a:xfrm>
            <a:off x="357170" y="1293625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04" name="Google Shape;404;g3aae6def66a_0_205"/>
          <p:cNvSpPr/>
          <p:nvPr/>
        </p:nvSpPr>
        <p:spPr>
          <a:xfrm>
            <a:off x="535785" y="1310875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휴게소 필터링(drawRestAreas)</a:t>
            </a: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05" name="Google Shape;405;g3aae6def66a_0_205"/>
          <p:cNvSpPr/>
          <p:nvPr/>
        </p:nvSpPr>
        <p:spPr>
          <a:xfrm>
            <a:off x="535784" y="1569564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설명</a:t>
            </a:r>
            <a:endParaRPr sz="8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06" name="Google Shape;406;g3aae6def66a_0_205"/>
          <p:cNvSpPr/>
          <p:nvPr/>
        </p:nvSpPr>
        <p:spPr>
          <a:xfrm>
            <a:off x="636050" y="1828276"/>
            <a:ext cx="2992124" cy="222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근접성 체크: isRestAreaNearRoute 함수로 경로 선상 반경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                     1.5km 이내의 휴게소만 필터링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방향 체크: getTravelDirection 함수로 상행 / 하행 여부 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                  판별하여 진행 방향에 맞는 휴게소만 표시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[3] 정렬 : 출발지 기준 거리순으로 오름차순 정렬(filtered.sort)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[4] 마커 표시 : 필터링된 휴게소 위치에 지도 마커 생성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[5] 정보 카드 : 하단 패널에 휴게소 이름, 편의시설 아이콘이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                      포함된 카드 동적 생성</a:t>
            </a: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pic>
        <p:nvPicPr>
          <p:cNvPr id="407" name="Google Shape;407;g3aae6def66a_0_20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3775275" y="958725"/>
            <a:ext cx="2396250" cy="270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aae6def66a_0_205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6241700" y="958725"/>
            <a:ext cx="2396250" cy="285742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aae6def66a_0_20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18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410" name="Google Shape;410;g3aae6def66a_0_205"/>
          <p:cNvSpPr/>
          <p:nvPr/>
        </p:nvSpPr>
        <p:spPr>
          <a:xfrm>
            <a:off x="357138" y="845705"/>
            <a:ext cx="84297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Main.js</a:t>
            </a:r>
            <a:endParaRPr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ae6def66a_0_181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6. 코드 상세 분석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17" name="Google Shape;417;g3aae6def66a_0_181"/>
          <p:cNvSpPr/>
          <p:nvPr/>
        </p:nvSpPr>
        <p:spPr>
          <a:xfrm>
            <a:off x="357170" y="1293625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18" name="Google Shape;418;g3aae6def66a_0_181"/>
          <p:cNvSpPr/>
          <p:nvPr/>
        </p:nvSpPr>
        <p:spPr>
          <a:xfrm>
            <a:off x="535785" y="1310875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상세 정보 모달(openRestModal)</a:t>
            </a:r>
            <a:endParaRPr lang="en-US"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19" name="Google Shape;419;g3aae6def66a_0_181"/>
          <p:cNvSpPr/>
          <p:nvPr/>
        </p:nvSpPr>
        <p:spPr>
          <a:xfrm>
            <a:off x="535784" y="1569564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설명</a:t>
            </a:r>
            <a:endParaRPr sz="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20" name="Google Shape;420;g3aae6def66a_0_181"/>
          <p:cNvSpPr/>
          <p:nvPr/>
        </p:nvSpPr>
        <p:spPr>
          <a:xfrm>
            <a:off x="636050" y="1828275"/>
            <a:ext cx="4183950" cy="2009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Trigger : 휴게소 카드 또는 마커 클릭 시 실행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역지오코딩(Client-side) : getAddressFromCoords 함수로 좌표를 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                                    주소(텍스트)로 변환하여 표출(서버 부하 감소 목적)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[3] Kakao Map 연동 : ‘위치 보기’ 버튼 클릭 시 </a:t>
            </a:r>
            <a:r>
              <a:rPr lang="en-US" sz="827" u="sng">
                <a:solidFill>
                  <a:schemeClr val="hlink"/>
                </a:solidFill>
                <a:latin typeface="맑은 고딕"/>
                <a:ea typeface="맑은 고딕"/>
                <a:hlinkClick r:id="rId3"/>
              </a:rPr>
              <a:t>map.kakao.com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 새창 열기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[4] AI 메뉴 추천 : fetch(“/get_info”) 호출하여 휴게소 이름 전송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[5] Gemini 응답을 받아 “정보 불러오는 중..” 텍스트를 AI가 작성한 메뉴 설명으로 교체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pic>
        <p:nvPicPr>
          <p:cNvPr id="421" name="Google Shape;421;g3aae6def66a_0_181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5089425" y="619900"/>
            <a:ext cx="2785375" cy="405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aae6def66a_0_18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19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423" name="Google Shape;423;g3aae6def66a_0_181"/>
          <p:cNvSpPr/>
          <p:nvPr/>
        </p:nvSpPr>
        <p:spPr>
          <a:xfrm>
            <a:off x="357138" y="845705"/>
            <a:ext cx="84297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Main.js</a:t>
            </a:r>
            <a:endParaRPr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ae6def66a_0_228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6. 코드 상세 분석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31" name="Google Shape;431;g3aae6def66a_0_228"/>
          <p:cNvSpPr/>
          <p:nvPr/>
        </p:nvSpPr>
        <p:spPr>
          <a:xfrm>
            <a:off x="357170" y="1293625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32" name="Google Shape;432;g3aae6def66a_0_228"/>
          <p:cNvSpPr/>
          <p:nvPr/>
        </p:nvSpPr>
        <p:spPr>
          <a:xfrm>
            <a:off x="535785" y="1310875"/>
            <a:ext cx="2923424" cy="2586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클래스 기반 DB 연결 (class Database)</a:t>
            </a: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33" name="Google Shape;433;g3aae6def66a_0_228"/>
          <p:cNvSpPr/>
          <p:nvPr/>
        </p:nvSpPr>
        <p:spPr>
          <a:xfrm>
            <a:off x="535784" y="1569564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설명</a:t>
            </a:r>
            <a:endParaRPr sz="8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34" name="Google Shape;434;g3aae6def66a_0_228"/>
          <p:cNvSpPr/>
          <p:nvPr/>
        </p:nvSpPr>
        <p:spPr>
          <a:xfrm>
            <a:off x="636050" y="1828275"/>
            <a:ext cx="3228900" cy="90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초기화(__init__): pymysql을 사용해 MariaDb에 연결 후 os.getenv 파일을 사용해 DB 접속 정보를 유연하게 관리 및 에러 메시지 출력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커서 설정 : DictCursor를 사용해 쿼리 결과 데이터를 딕셔너리 형태로 반환하여 프론트엔드에 데이터를 보내는데 효율적으로 사용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endParaRPr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pic>
        <p:nvPicPr>
          <p:cNvPr id="435" name="Google Shape;435;g3aae6def66a_0_228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3970525" y="897525"/>
            <a:ext cx="2396250" cy="163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3aae6def66a_0_228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6472350" y="897530"/>
            <a:ext cx="2420126" cy="3236707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aae6def66a_0_228"/>
          <p:cNvSpPr/>
          <p:nvPr/>
        </p:nvSpPr>
        <p:spPr>
          <a:xfrm>
            <a:off x="357195" y="3118700"/>
            <a:ext cx="119100" cy="1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38" name="Google Shape;438;g3aae6def66a_0_228"/>
          <p:cNvSpPr/>
          <p:nvPr/>
        </p:nvSpPr>
        <p:spPr>
          <a:xfrm>
            <a:off x="535810" y="3135950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휴게소 전체 조회 (get_rest_areas)</a:t>
            </a:r>
            <a:endParaRPr sz="900" b="1">
              <a:solidFill>
                <a:srgbClr val="333333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39" name="Google Shape;439;g3aae6def66a_0_228"/>
          <p:cNvSpPr/>
          <p:nvPr/>
        </p:nvSpPr>
        <p:spPr>
          <a:xfrm>
            <a:off x="535809" y="3394639"/>
            <a:ext cx="2494800" cy="13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설명</a:t>
            </a:r>
            <a:endParaRPr sz="827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40" name="Google Shape;440;g3aae6def66a_0_228"/>
          <p:cNvSpPr/>
          <p:nvPr/>
        </p:nvSpPr>
        <p:spPr>
          <a:xfrm>
            <a:off x="636079" y="3653350"/>
            <a:ext cx="4646871" cy="10965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[1] 데이터 정제 : SQL 쿼리 내 IFNULL, AS(Alias)를 사용해 DB의 컬럼명을 앱의 인터페이스(lat, lng, </a:t>
            </a:r>
            <a:r>
              <a:rPr lang="en-US" altLang="ko-KR" sz="827">
                <a:solidFill>
                  <a:srgbClr val="333333"/>
                </a:solidFill>
                <a:latin typeface="맑은 고딕"/>
                <a:ea typeface="맑은 고딕"/>
              </a:rPr>
              <a:t> 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altLang="ko-KR" sz="827">
                <a:solidFill>
                  <a:srgbClr val="333333"/>
                </a:solidFill>
                <a:latin typeface="맑은 고딕"/>
                <a:ea typeface="맑은 고딕"/>
              </a:rPr>
              <a:t>                      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food 등)에 맞게 변환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[2] 정보 통합: 휴게소 이름 뿐만이 아닌 위도/경도, 노선 번호, 대표 음식, 편의시설 유무(주유소, 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altLang="ko-KR" sz="827">
                <a:solidFill>
                  <a:srgbClr val="333333"/>
                </a:solidFill>
                <a:latin typeface="맑은 고딕"/>
                <a:ea typeface="맑은 고딕"/>
              </a:rPr>
              <a:t>                      </a:t>
            </a:r>
            <a:r>
              <a:rPr lang="en-US" sz="827">
                <a:solidFill>
                  <a:srgbClr val="333333"/>
                </a:solidFill>
                <a:latin typeface="맑은 고딕"/>
                <a:ea typeface="맑은 고딕"/>
              </a:rPr>
              <a:t>전기차충전소, 약국, 수유실)를 한번에 조회</a:t>
            </a:r>
            <a:endParaRPr lang="en-US" sz="827">
              <a:solidFill>
                <a:srgbClr val="333333"/>
              </a:solidFill>
              <a:latin typeface="맑은 고딕"/>
              <a:ea typeface="맑은 고딕"/>
            </a:endParaRPr>
          </a:p>
        </p:txBody>
      </p:sp>
      <p:sp>
        <p:nvSpPr>
          <p:cNvPr id="441" name="Google Shape;441;g3aae6def66a_0_2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20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443" name="Google Shape;423;g3aae6def66a_0_181"/>
          <p:cNvSpPr/>
          <p:nvPr/>
        </p:nvSpPr>
        <p:spPr>
          <a:xfrm>
            <a:off x="357138" y="845705"/>
            <a:ext cx="84297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altLang="ko-KR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db.py</a:t>
            </a:r>
            <a:endParaRPr lang="en-US" altLang="ko-KR" b="1">
              <a:solidFill>
                <a:srgbClr val="ff5722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"/>
          <p:cNvSpPr/>
          <p:nvPr/>
        </p:nvSpPr>
        <p:spPr>
          <a:xfrm>
            <a:off x="186575" y="776750"/>
            <a:ext cx="4561500" cy="428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448" name="Google Shape;448;p5"/>
          <p:cNvSpPr/>
          <p:nvPr/>
        </p:nvSpPr>
        <p:spPr>
          <a:xfrm>
            <a:off x="5043241" y="1077126"/>
            <a:ext cx="1056396" cy="3135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5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구조 개요</a:t>
            </a:r>
            <a:endParaRPr sz="15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49" name="Google Shape;449;p5"/>
          <p:cNvSpPr/>
          <p:nvPr/>
        </p:nvSpPr>
        <p:spPr>
          <a:xfrm>
            <a:off x="5043238" y="1388366"/>
            <a:ext cx="52636" cy="307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50" name="Google Shape;450;p5"/>
          <p:cNvSpPr/>
          <p:nvPr/>
        </p:nvSpPr>
        <p:spPr>
          <a:xfrm>
            <a:off x="5221824" y="1395026"/>
            <a:ext cx="780674" cy="3004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74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Framework</a:t>
            </a:r>
            <a:endParaRPr sz="974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51" name="Google Shape;451;p5"/>
          <p:cNvSpPr/>
          <p:nvPr/>
        </p:nvSpPr>
        <p:spPr>
          <a:xfrm>
            <a:off x="6002650" y="1388375"/>
            <a:ext cx="2496000" cy="259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4" i="0" u="none" strike="noStrike" cap="none">
                <a:solidFill>
                  <a:srgbClr val="333333"/>
                </a:solidFill>
                <a:latin typeface="맑은 고딕"/>
                <a:ea typeface="맑은 고딕"/>
              </a:rPr>
              <a:t>Python Flask (백엔드 로직 및 라우팅 처리)</a:t>
            </a:r>
            <a:endParaRPr sz="924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452" name="Google Shape;452;p5"/>
          <p:cNvSpPr/>
          <p:nvPr/>
        </p:nvSpPr>
        <p:spPr>
          <a:xfrm>
            <a:off x="5043238" y="1671167"/>
            <a:ext cx="52636" cy="310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53" name="Google Shape;453;p5"/>
          <p:cNvSpPr/>
          <p:nvPr/>
        </p:nvSpPr>
        <p:spPr>
          <a:xfrm>
            <a:off x="5221824" y="1682167"/>
            <a:ext cx="780844" cy="299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74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Front-end</a:t>
            </a:r>
            <a:endParaRPr sz="974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54" name="Google Shape;454;p5"/>
          <p:cNvSpPr/>
          <p:nvPr/>
        </p:nvSpPr>
        <p:spPr>
          <a:xfrm>
            <a:off x="6002498" y="1674207"/>
            <a:ext cx="2756100" cy="259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4" i="0" u="none" strike="noStrike" cap="none">
                <a:solidFill>
                  <a:srgbClr val="333333"/>
                </a:solidFill>
                <a:latin typeface="맑은 고딕"/>
                <a:ea typeface="맑은 고딕"/>
              </a:rPr>
              <a:t>HTML5, </a:t>
            </a:r>
            <a:r>
              <a:rPr lang="en-US" sz="924">
                <a:solidFill>
                  <a:srgbClr val="333333"/>
                </a:solidFill>
                <a:latin typeface="맑은 고딕"/>
                <a:ea typeface="맑은 고딕"/>
              </a:rPr>
              <a:t>Tailwind Css</a:t>
            </a:r>
            <a:r>
              <a:rPr lang="en-US" sz="924" i="0" u="none" strike="noStrike" cap="none">
                <a:solidFill>
                  <a:srgbClr val="333333"/>
                </a:solidFill>
                <a:latin typeface="맑은 고딕"/>
                <a:ea typeface="맑은 고딕"/>
              </a:rPr>
              <a:t>, JavaScript (Jinja2 템플릿 엔진)</a:t>
            </a:r>
            <a:endParaRPr sz="924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455" name="Google Shape;455;p5"/>
          <p:cNvSpPr/>
          <p:nvPr/>
        </p:nvSpPr>
        <p:spPr>
          <a:xfrm>
            <a:off x="5043238" y="1953967"/>
            <a:ext cx="52636" cy="3129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56" name="Google Shape;456;p5"/>
          <p:cNvSpPr/>
          <p:nvPr/>
        </p:nvSpPr>
        <p:spPr>
          <a:xfrm>
            <a:off x="5221824" y="1969309"/>
            <a:ext cx="208500" cy="2976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74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API</a:t>
            </a:r>
            <a:endParaRPr sz="974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57" name="Google Shape;457;p5"/>
          <p:cNvSpPr/>
          <p:nvPr/>
        </p:nvSpPr>
        <p:spPr>
          <a:xfrm>
            <a:off x="6002668" y="1961366"/>
            <a:ext cx="2025600" cy="257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4" i="0" u="none" strike="noStrike" cap="none">
                <a:solidFill>
                  <a:srgbClr val="333333"/>
                </a:solidFill>
                <a:latin typeface="맑은 고딕"/>
                <a:ea typeface="맑은 고딕"/>
              </a:rPr>
              <a:t>Kakao Maps API, 공공데이터 API</a:t>
            </a:r>
            <a:endParaRPr sz="924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458" name="Google Shape;458;p5"/>
          <p:cNvSpPr/>
          <p:nvPr/>
        </p:nvSpPr>
        <p:spPr>
          <a:xfrm>
            <a:off x="5043238" y="2251548"/>
            <a:ext cx="52636" cy="3106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59" name="Google Shape;459;p5"/>
          <p:cNvSpPr/>
          <p:nvPr/>
        </p:nvSpPr>
        <p:spPr>
          <a:xfrm>
            <a:off x="5221824" y="2256450"/>
            <a:ext cx="780674" cy="29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74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Database</a:t>
            </a:r>
            <a:endParaRPr sz="974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60" name="Google Shape;460;p5"/>
          <p:cNvSpPr/>
          <p:nvPr/>
        </p:nvSpPr>
        <p:spPr>
          <a:xfrm>
            <a:off x="6002648" y="2248523"/>
            <a:ext cx="1334700" cy="2660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24" i="0" u="none" strike="noStrike" cap="none">
                <a:solidFill>
                  <a:srgbClr val="333333"/>
                </a:solidFill>
                <a:latin typeface="맑은 고딕"/>
                <a:ea typeface="맑은 고딕"/>
              </a:rPr>
              <a:t>MariaDB </a:t>
            </a:r>
            <a:endParaRPr sz="924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461" name="Google Shape;461;p5"/>
          <p:cNvSpPr/>
          <p:nvPr/>
        </p:nvSpPr>
        <p:spPr>
          <a:xfrm>
            <a:off x="5077837" y="3169500"/>
            <a:ext cx="1364700" cy="307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5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시스템 흐름</a:t>
            </a:r>
            <a:endParaRPr sz="15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62" name="Google Shape;462;p5"/>
          <p:cNvSpPr/>
          <p:nvPr/>
        </p:nvSpPr>
        <p:spPr>
          <a:xfrm>
            <a:off x="4861583" y="3557173"/>
            <a:ext cx="3857700" cy="243302"/>
          </a:xfrm>
          <a:prstGeom prst="rect">
            <a:avLst/>
          </a:prstGeom>
          <a:noFill/>
          <a:ln>
            <a:noFill/>
          </a:ln>
        </p:spPr>
        <p:txBody>
          <a:bodyPr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[1] </a:t>
            </a: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사용자가 브라우저에 접속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63" name="Google Shape;463;p5"/>
          <p:cNvSpPr/>
          <p:nvPr/>
        </p:nvSpPr>
        <p:spPr>
          <a:xfrm>
            <a:off x="4861583" y="3800758"/>
            <a:ext cx="3857700" cy="247367"/>
          </a:xfrm>
          <a:prstGeom prst="rect">
            <a:avLst/>
          </a:prstGeom>
          <a:noFill/>
          <a:ln>
            <a:noFill/>
          </a:ln>
        </p:spPr>
        <p:txBody>
          <a:bodyPr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[2] </a:t>
            </a: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Flask 서버가 index.html을 Jinja2로 렌더링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64" name="Google Shape;464;p5"/>
          <p:cNvSpPr/>
          <p:nvPr/>
        </p:nvSpPr>
        <p:spPr>
          <a:xfrm>
            <a:off x="4861583" y="4044343"/>
            <a:ext cx="3857700" cy="241907"/>
          </a:xfrm>
          <a:prstGeom prst="rect">
            <a:avLst/>
          </a:prstGeom>
          <a:noFill/>
          <a:ln>
            <a:noFill/>
          </a:ln>
        </p:spPr>
        <p:txBody>
          <a:bodyPr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[3] </a:t>
            </a: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JavaScript가 Kakao Maps API 호출 및 경로 표시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65" name="Google Shape;465;p5"/>
          <p:cNvSpPr/>
          <p:nvPr/>
        </p:nvSpPr>
        <p:spPr>
          <a:xfrm>
            <a:off x="4861583" y="4287928"/>
            <a:ext cx="3857700" cy="245972"/>
          </a:xfrm>
          <a:prstGeom prst="rect">
            <a:avLst/>
          </a:prstGeom>
          <a:noFill/>
          <a:ln>
            <a:noFill/>
          </a:ln>
        </p:spPr>
        <p:txBody>
          <a:bodyPr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00" b="1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[4] </a:t>
            </a:r>
            <a:r>
              <a:rPr lang="en-US" sz="900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DB의 휴게소 데이터를 마커로 시각화</a:t>
            </a:r>
            <a:endParaRPr sz="900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pic>
        <p:nvPicPr>
          <p:cNvPr id="466" name="Google Shape;466;p5"/>
          <p:cNvPicPr/>
          <p:nvPr/>
        </p:nvPicPr>
        <p:blipFill rotWithShape="1">
          <a:blip r:embed="rId3">
            <a:alphaModFix/>
          </a:blip>
          <a:srcRect l="23960" t="46310" r="47230" b="14040"/>
          <a:stretch>
            <a:fillRect/>
          </a:stretch>
        </p:blipFill>
        <p:spPr>
          <a:xfrm>
            <a:off x="357200" y="1893225"/>
            <a:ext cx="2809320" cy="209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67" name="Google Shape;467;p5"/>
          <p:cNvPicPr/>
          <p:nvPr/>
        </p:nvPicPr>
        <p:blipFill rotWithShape="1">
          <a:blip r:embed="rId4">
            <a:alphaModFix/>
          </a:blip>
          <a:srcRect b="1050"/>
          <a:stretch>
            <a:fillRect/>
          </a:stretch>
        </p:blipFill>
        <p:spPr>
          <a:xfrm>
            <a:off x="3241575" y="821500"/>
            <a:ext cx="1182075" cy="423774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21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469" name="Google Shape;469;p5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7. DB구조 및 시스템 아키텍처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9"/>
          <p:cNvGrpSpPr/>
          <p:nvPr/>
        </p:nvGrpSpPr>
        <p:grpSpPr>
          <a:xfrm rot="0">
            <a:off x="4580171" y="1590511"/>
            <a:ext cx="4074955" cy="2297715"/>
            <a:chOff x="633399" y="973389"/>
            <a:chExt cx="3777303" cy="1857040"/>
          </a:xfrm>
        </p:grpSpPr>
        <p:sp>
          <p:nvSpPr>
            <p:cNvPr id="476" name="Google Shape;476;p9"/>
            <p:cNvSpPr/>
            <p:nvPr/>
          </p:nvSpPr>
          <p:spPr>
            <a:xfrm>
              <a:off x="633402" y="974629"/>
              <a:ext cx="3777300" cy="185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맑은 고딕"/>
                <a:ea typeface="맑은 고딕"/>
              </a:endParaRPr>
            </a:p>
          </p:txBody>
        </p:sp>
        <p:sp>
          <p:nvSpPr>
            <p:cNvPr id="477" name="Google Shape;477;p9"/>
            <p:cNvSpPr/>
            <p:nvPr/>
          </p:nvSpPr>
          <p:spPr>
            <a:xfrm rot="5400000">
              <a:off x="2511699" y="-904911"/>
              <a:ext cx="20700" cy="3777300"/>
            </a:xfrm>
            <a:prstGeom prst="rect">
              <a:avLst/>
            </a:prstGeom>
            <a:solidFill>
              <a:srgbClr val="ff5722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맑은 고딕"/>
                <a:ea typeface="맑은 고딕"/>
              </a:endParaRPr>
            </a:p>
          </p:txBody>
        </p:sp>
      </p:grpSp>
      <p:grpSp>
        <p:nvGrpSpPr>
          <p:cNvPr id="478" name="Google Shape;478;p9"/>
          <p:cNvGrpSpPr/>
          <p:nvPr/>
        </p:nvGrpSpPr>
        <p:grpSpPr>
          <a:xfrm rot="0">
            <a:off x="308025" y="1590511"/>
            <a:ext cx="4074979" cy="2299247"/>
            <a:chOff x="633399" y="973389"/>
            <a:chExt cx="3777326" cy="1858277"/>
          </a:xfrm>
        </p:grpSpPr>
        <p:sp>
          <p:nvSpPr>
            <p:cNvPr id="479" name="Google Shape;479;p9"/>
            <p:cNvSpPr/>
            <p:nvPr/>
          </p:nvSpPr>
          <p:spPr>
            <a:xfrm>
              <a:off x="633425" y="975866"/>
              <a:ext cx="3777300" cy="185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맑은 고딕"/>
                <a:ea typeface="맑은 고딕"/>
              </a:endParaRPr>
            </a:p>
          </p:txBody>
        </p:sp>
        <p:sp>
          <p:nvSpPr>
            <p:cNvPr id="480" name="Google Shape;480;p9"/>
            <p:cNvSpPr/>
            <p:nvPr/>
          </p:nvSpPr>
          <p:spPr>
            <a:xfrm rot="5400000">
              <a:off x="2511699" y="-904911"/>
              <a:ext cx="20700" cy="3777300"/>
            </a:xfrm>
            <a:prstGeom prst="rect">
              <a:avLst/>
            </a:prstGeom>
            <a:solidFill>
              <a:srgbClr val="ff5722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맑은 고딕"/>
                <a:ea typeface="맑은 고딕"/>
              </a:endParaRPr>
            </a:p>
          </p:txBody>
        </p:sp>
      </p:grpSp>
      <p:sp>
        <p:nvSpPr>
          <p:cNvPr id="481" name="Google Shape;481;p9"/>
          <p:cNvSpPr/>
          <p:nvPr/>
        </p:nvSpPr>
        <p:spPr>
          <a:xfrm>
            <a:off x="455475" y="1921191"/>
            <a:ext cx="8429700" cy="392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85075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49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프로젝트 요약</a:t>
            </a:r>
            <a:endParaRPr sz="149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416125" y="2487541"/>
            <a:ext cx="8429700" cy="236609"/>
          </a:xfrm>
          <a:prstGeom prst="rect">
            <a:avLst/>
          </a:prstGeom>
          <a:noFill/>
          <a:ln>
            <a:noFill/>
          </a:ln>
        </p:spPr>
        <p:txBody>
          <a:bodyPr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Kakao Maps API를 활용한 국내 고속도로 최적화 여정 정보 시스템 구현 완료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83" name="Google Shape;483;p9"/>
          <p:cNvSpPr/>
          <p:nvPr/>
        </p:nvSpPr>
        <p:spPr>
          <a:xfrm>
            <a:off x="416146" y="2763945"/>
            <a:ext cx="8429700" cy="236430"/>
          </a:xfrm>
          <a:prstGeom prst="rect">
            <a:avLst/>
          </a:prstGeom>
          <a:noFill/>
          <a:ln>
            <a:noFill/>
          </a:ln>
        </p:spPr>
        <p:txBody>
          <a:bodyPr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휴게소 맛집과 상세 정보를 경로상에서 즉시 확인하는 차별화된 경험 제공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84" name="Google Shape;484;p9"/>
          <p:cNvSpPr/>
          <p:nvPr/>
        </p:nvSpPr>
        <p:spPr>
          <a:xfrm flipH="1">
            <a:off x="465302" y="2517878"/>
            <a:ext cx="97500" cy="206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6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6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85" name="Google Shape;485;p9"/>
          <p:cNvSpPr/>
          <p:nvPr/>
        </p:nvSpPr>
        <p:spPr>
          <a:xfrm flipH="1">
            <a:off x="504652" y="2771025"/>
            <a:ext cx="153300" cy="200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endParaRPr sz="6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4714584" y="1921196"/>
            <a:ext cx="8429700" cy="3927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85075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149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향후 계획 (Future Plans)</a:t>
            </a:r>
            <a:endParaRPr sz="149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4714584" y="2439214"/>
            <a:ext cx="8429700" cy="237311"/>
          </a:xfrm>
          <a:prstGeom prst="rect">
            <a:avLst/>
          </a:prstGeom>
          <a:noFill/>
          <a:ln>
            <a:noFill/>
          </a:ln>
        </p:spPr>
        <p:txBody>
          <a:bodyPr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실시간 정보 강화: 카카오맵 내 실시간 혼잡도나 주차 정보 추가 연동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88" name="Google Shape;488;p9"/>
          <p:cNvSpPr/>
          <p:nvPr/>
        </p:nvSpPr>
        <p:spPr>
          <a:xfrm>
            <a:off x="4714584" y="2704956"/>
            <a:ext cx="8429700" cy="228744"/>
          </a:xfrm>
          <a:prstGeom prst="rect">
            <a:avLst/>
          </a:prstGeom>
          <a:noFill/>
          <a:ln>
            <a:noFill/>
          </a:ln>
        </p:spPr>
        <p:txBody>
          <a:bodyPr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개인화 추천: 사용자의 선호 음식(한식/일식 등)에 따른 맞춤형 휴게소 추천 기능 추가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4714584" y="2970698"/>
            <a:ext cx="8429700" cy="229702"/>
          </a:xfrm>
          <a:prstGeom prst="rect">
            <a:avLst/>
          </a:prstGeom>
          <a:noFill/>
          <a:ln>
            <a:noFill/>
          </a:ln>
        </p:spPr>
        <p:txBody>
          <a:bodyPr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827" b="1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내비게이션 연동: 실제 카카오내비 앱으로 경로를 전송하는 기능 추가</a:t>
            </a:r>
            <a:endParaRPr sz="827" b="1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90" name="Google Shape;490;p9"/>
          <p:cNvSpPr/>
          <p:nvPr/>
        </p:nvSpPr>
        <p:spPr>
          <a:xfrm>
            <a:off x="4753409" y="2439201"/>
            <a:ext cx="56716" cy="208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6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6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4753409" y="2704943"/>
            <a:ext cx="56716" cy="200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6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6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4753409" y="2970685"/>
            <a:ext cx="56716" cy="2011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6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6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93" name="Google Shape;493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22</a:t>
            </a:fld>
            <a:endParaRPr lang="en-US">
              <a:latin typeface="맑은 고딕"/>
              <a:ea typeface="맑은 고딕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8. 프로젝트 요약 및 향후 계획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495" name="Google Shape;495;p9"/>
          <p:cNvSpPr/>
          <p:nvPr/>
        </p:nvSpPr>
        <p:spPr>
          <a:xfrm flipH="1">
            <a:off x="465299" y="2783621"/>
            <a:ext cx="357900" cy="5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4978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683" b="1" i="0" u="none" strike="noStrike" cap="none">
                <a:solidFill>
                  <a:srgbClr val="0052cc"/>
                </a:solidFill>
                <a:latin typeface="맑은 고딕"/>
                <a:cs typeface="Calibri"/>
                <a:sym typeface="Calibri"/>
              </a:rPr>
              <a:t>▸</a:t>
            </a:r>
            <a:endParaRPr sz="68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1eee629cd_6_159"/>
          <p:cNvSpPr/>
          <p:nvPr/>
        </p:nvSpPr>
        <p:spPr>
          <a:xfrm>
            <a:off x="428625" y="862688"/>
            <a:ext cx="8286900" cy="108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02" name="Google Shape;502;g3b1eee629cd_6_159"/>
          <p:cNvSpPr/>
          <p:nvPr/>
        </p:nvSpPr>
        <p:spPr>
          <a:xfrm>
            <a:off x="428625" y="862688"/>
            <a:ext cx="28500" cy="1080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03" name="Google Shape;503;g3b1eee629cd_6_159"/>
          <p:cNvSpPr/>
          <p:nvPr/>
        </p:nvSpPr>
        <p:spPr>
          <a:xfrm>
            <a:off x="607219" y="1041282"/>
            <a:ext cx="79296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프로젝트 관리 및 총괄(</a:t>
            </a:r>
            <a:r>
              <a:rPr lang="en-US" sz="9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PM)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04" name="Google Shape;504;g3b1eee629cd_6_159"/>
          <p:cNvSpPr/>
          <p:nvPr/>
        </p:nvSpPr>
        <p:spPr>
          <a:xfrm>
            <a:off x="607219" y="1302029"/>
            <a:ext cx="79296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박민우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05" name="Google Shape;505;g3b1eee629cd_6_159"/>
          <p:cNvSpPr/>
          <p:nvPr/>
        </p:nvSpPr>
        <p:spPr>
          <a:xfrm>
            <a:off x="607225" y="1547303"/>
            <a:ext cx="79296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600">
                <a:solidFill>
                  <a:schemeClr val="dk1"/>
                </a:solidFill>
                <a:latin typeface="맑은 고딕"/>
                <a:ea typeface="맑은 고딕"/>
              </a:rPr>
              <a:t>"이번 프로젝트에서 팀원 간의 다양한 의견을 조율해 개발 방향을 제시하고 의사결정을 지원하며 협업의 기술을 배웠습니다. 특히 직접 UI/UX 수정 작업을 수행하며 데이터가 사용자에게 전달되는 최종 접점을 최적화하는 과정을 통해, 서로 다른 기술 스택이 유기적으로 맞물린 때 비로소 완성도 높은 서비스가 탄생한다는 점을 깊이 느꼈습니다. 이를 통해 기술적 조율과 UX 최적화를 아우르는 통합 관리 역량의 중요성을 깨달았습니다."</a:t>
            </a:r>
            <a:endParaRPr sz="600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506" name="Google Shape;506;g3b1eee629cd_6_159"/>
          <p:cNvSpPr/>
          <p:nvPr/>
        </p:nvSpPr>
        <p:spPr>
          <a:xfrm>
            <a:off x="428625" y="2229275"/>
            <a:ext cx="4000500" cy="120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07" name="Google Shape;507;g3b1eee629cd_6_159"/>
          <p:cNvSpPr/>
          <p:nvPr/>
        </p:nvSpPr>
        <p:spPr>
          <a:xfrm>
            <a:off x="428625" y="2229275"/>
            <a:ext cx="28500" cy="1203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08" name="Google Shape;508;g3b1eee629cd_6_159"/>
          <p:cNvSpPr/>
          <p:nvPr/>
        </p:nvSpPr>
        <p:spPr>
          <a:xfrm>
            <a:off x="607219" y="2298921"/>
            <a:ext cx="36432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기술 아키텍처</a:t>
            </a:r>
            <a:r>
              <a:rPr lang="en-US" sz="900" b="1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(PL)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09" name="Google Shape;509;g3b1eee629cd_6_159"/>
          <p:cNvSpPr/>
          <p:nvPr/>
        </p:nvSpPr>
        <p:spPr>
          <a:xfrm>
            <a:off x="607219" y="2559668"/>
            <a:ext cx="36432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신민서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10" name="Google Shape;510;g3b1eee629cd_6_159"/>
          <p:cNvSpPr/>
          <p:nvPr/>
        </p:nvSpPr>
        <p:spPr>
          <a:xfrm>
            <a:off x="607225" y="2821520"/>
            <a:ext cx="3747000" cy="59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700">
                <a:solidFill>
                  <a:schemeClr val="dk1"/>
                </a:solidFill>
                <a:latin typeface="맑은 고딕"/>
                <a:ea typeface="맑은 고딕"/>
              </a:rPr>
              <a:t>“사용자가 정보를 찾는 수고를 최소화할 수 있도록 Flask 기반의 데이터 처리와 카카오맵 API를 효율적으로 연동했습니다. 프로젝트의 전 과정을 리딩하며 팀의 비전을 실제 서비스로 안착시킨 경험은 PL로서 한 단계 성장하는 소중한 계기가 되었습니다.”</a:t>
            </a:r>
            <a:endParaRPr sz="700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511" name="Google Shape;511;g3b1eee629cd_6_159"/>
          <p:cNvSpPr/>
          <p:nvPr/>
        </p:nvSpPr>
        <p:spPr>
          <a:xfrm>
            <a:off x="4714875" y="2229275"/>
            <a:ext cx="4000500" cy="120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12" name="Google Shape;512;g3b1eee629cd_6_159"/>
          <p:cNvSpPr/>
          <p:nvPr/>
        </p:nvSpPr>
        <p:spPr>
          <a:xfrm>
            <a:off x="4714875" y="2229275"/>
            <a:ext cx="28500" cy="1203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13" name="Google Shape;513;g3b1eee629cd_6_159"/>
          <p:cNvSpPr/>
          <p:nvPr/>
        </p:nvSpPr>
        <p:spPr>
          <a:xfrm>
            <a:off x="4873816" y="2283396"/>
            <a:ext cx="36432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AI &amp; API 연동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14" name="Google Shape;514;g3b1eee629cd_6_159"/>
          <p:cNvSpPr/>
          <p:nvPr/>
        </p:nvSpPr>
        <p:spPr>
          <a:xfrm>
            <a:off x="4873816" y="2544143"/>
            <a:ext cx="36432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류건우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15" name="Google Shape;515;g3b1eee629cd_6_159"/>
          <p:cNvSpPr/>
          <p:nvPr/>
        </p:nvSpPr>
        <p:spPr>
          <a:xfrm>
            <a:off x="4873822" y="2837040"/>
            <a:ext cx="3643200" cy="59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700">
                <a:solidFill>
                  <a:schemeClr val="dk1"/>
                </a:solidFill>
                <a:latin typeface="맑은 고딕"/>
                <a:ea typeface="맑은 고딕"/>
              </a:rPr>
              <a:t>“Gemini, 카카오 맵, 카카오 모빌리티 api를 실제 프로젝트에 적용하면서, api key 관리와 예외 처리 등 안정적인 기능 구성의 중요성을 경험했습니다. 단순히 기능 구현을 넘어, 데이터 처리와 프로젝트 설계의 중요성을 배웠습니다”</a:t>
            </a:r>
            <a:endParaRPr sz="700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516" name="Google Shape;516;g3b1eee629cd_6_159"/>
          <p:cNvSpPr/>
          <p:nvPr/>
        </p:nvSpPr>
        <p:spPr>
          <a:xfrm>
            <a:off x="428625" y="3722005"/>
            <a:ext cx="4000500" cy="120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17" name="Google Shape;517;g3b1eee629cd_6_159"/>
          <p:cNvSpPr/>
          <p:nvPr/>
        </p:nvSpPr>
        <p:spPr>
          <a:xfrm>
            <a:off x="428625" y="3722005"/>
            <a:ext cx="28500" cy="1203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18" name="Google Shape;518;g3b1eee629cd_6_159"/>
          <p:cNvSpPr/>
          <p:nvPr/>
        </p:nvSpPr>
        <p:spPr>
          <a:xfrm>
            <a:off x="607219" y="3774436"/>
            <a:ext cx="36432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UI/UX 디자인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19" name="Google Shape;519;g3b1eee629cd_6_159"/>
          <p:cNvSpPr/>
          <p:nvPr/>
        </p:nvSpPr>
        <p:spPr>
          <a:xfrm>
            <a:off x="659119" y="4022608"/>
            <a:ext cx="36432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이유진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20" name="Google Shape;520;g3b1eee629cd_6_159"/>
          <p:cNvSpPr/>
          <p:nvPr/>
        </p:nvSpPr>
        <p:spPr>
          <a:xfrm>
            <a:off x="607225" y="4288773"/>
            <a:ext cx="3643200" cy="59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700">
                <a:latin typeface="맑은 고딕"/>
                <a:ea typeface="맑은 고딕"/>
              </a:rPr>
              <a:t>“Flask가 생소해 어려움도 있었지만, 코드가 실제 화면으로 실현되는 과정이 흥미로웠습니다. 사용자가 더 편리하게 사용할 수 있는 화면을 만드는 데 집중했고, 그 과정에서 전체적인 코드 흐름까지 익힐 수 있었습니다.”</a:t>
            </a:r>
            <a:endParaRPr sz="700" i="0" strike="noStrike" cap="none">
              <a:latin typeface="맑은 고딕"/>
              <a:ea typeface="맑은 고딕"/>
            </a:endParaRPr>
          </a:p>
        </p:txBody>
      </p:sp>
      <p:sp>
        <p:nvSpPr>
          <p:cNvPr id="521" name="Google Shape;521;g3b1eee629cd_6_159"/>
          <p:cNvSpPr/>
          <p:nvPr/>
        </p:nvSpPr>
        <p:spPr>
          <a:xfrm>
            <a:off x="4714875" y="3722005"/>
            <a:ext cx="4000500" cy="120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22" name="Google Shape;522;g3b1eee629cd_6_159"/>
          <p:cNvSpPr/>
          <p:nvPr/>
        </p:nvSpPr>
        <p:spPr>
          <a:xfrm>
            <a:off x="4714875" y="3722005"/>
            <a:ext cx="28500" cy="12039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sp>
        <p:nvSpPr>
          <p:cNvPr id="523" name="Google Shape;523;g3b1eee629cd_6_159"/>
          <p:cNvSpPr/>
          <p:nvPr/>
        </p:nvSpPr>
        <p:spPr>
          <a:xfrm>
            <a:off x="4863972" y="3784268"/>
            <a:ext cx="3643200" cy="18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900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데이터베이스 &amp; 배포</a:t>
            </a:r>
            <a:endParaRPr sz="9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24" name="Google Shape;524;g3b1eee629cd_6_159"/>
          <p:cNvSpPr/>
          <p:nvPr/>
        </p:nvSpPr>
        <p:spPr>
          <a:xfrm>
            <a:off x="4893469" y="4005686"/>
            <a:ext cx="3643200" cy="20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184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000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권민지</a:t>
            </a:r>
            <a:endParaRPr sz="10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25" name="Google Shape;525;g3b1eee629cd_6_159"/>
          <p:cNvSpPr/>
          <p:nvPr/>
        </p:nvSpPr>
        <p:spPr>
          <a:xfrm>
            <a:off x="4873825" y="4283878"/>
            <a:ext cx="3643200" cy="55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700">
                <a:latin typeface="맑은 고딕"/>
                <a:ea typeface="맑은 고딕"/>
              </a:rPr>
              <a:t>“Flask 구조를 직접 설계하고 카카오 api를 실제 적용하면서 파이ᄊᅠᆫ 기반 기술에 대해 명확히 이해할 수 있어 의미 있고 새로운 경험이었습니다. 협업 과정에서는 Git을 활용해 코드 변경 사항을 관리하는 방법을 이해하였고, Git 사용 능력 또한 향상되었습니다.”</a:t>
            </a:r>
            <a:endParaRPr sz="700">
              <a:latin typeface="맑은 고딕"/>
              <a:ea typeface="맑은 고딕"/>
            </a:endParaRPr>
          </a:p>
        </p:txBody>
      </p:sp>
      <p:sp>
        <p:nvSpPr>
          <p:cNvPr id="527" name="Google Shape;527;g3b1eee629cd_6_159"/>
          <p:cNvSpPr/>
          <p:nvPr/>
        </p:nvSpPr>
        <p:spPr>
          <a:xfrm>
            <a:off x="357188" y="357188"/>
            <a:ext cx="8429700" cy="3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808" b="1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8. 프로젝트 요약 및 향후 계획</a:t>
            </a:r>
            <a:endParaRPr sz="180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28" name="Google Shape;493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>
                <a:latin typeface="맑은 고딕"/>
                <a:ea typeface="맑은 고딕"/>
              </a:rPr>
              <a:t>23</a:t>
            </a:r>
            <a:endParaRPr lang="en-US" altLang="ko-KR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0"/>
          <p:cNvSpPr/>
          <p:nvPr/>
        </p:nvSpPr>
        <p:spPr>
          <a:xfrm>
            <a:off x="3635000" y="1601085"/>
            <a:ext cx="1874100" cy="103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359"/>
              </a:lnSpc>
              <a:spcBef>
                <a:spcPts val="0"/>
              </a:spcBef>
              <a:spcAft>
                <a:spcPts val="0"/>
              </a:spcAft>
              <a:buClr>
                <a:srgbClr val="ff5722"/>
              </a:buClr>
              <a:buSzPct val="25000"/>
              <a:buFont typeface="Calibri"/>
              <a:buNone/>
              <a:defRPr/>
            </a:pPr>
            <a:r>
              <a:rPr lang="en-US" sz="6218" b="1" i="0" u="none" strike="noStrike" cap="none">
                <a:solidFill>
                  <a:srgbClr val="ff5722"/>
                </a:solidFill>
                <a:latin typeface="맑은 고딕"/>
                <a:ea typeface="맑은 고딕"/>
                <a:cs typeface="Calibri"/>
                <a:sym typeface="Calibri"/>
              </a:rPr>
              <a:t>Q&amp;A</a:t>
            </a:r>
            <a:endParaRPr sz="6218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3635000" y="2601210"/>
            <a:ext cx="1874100" cy="24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ct val="25000"/>
              <a:buFont typeface="Calibri"/>
              <a:buNone/>
              <a:defRPr/>
            </a:pPr>
            <a:r>
              <a:rPr lang="en-US" sz="1193" b="1" i="0" u="none" strike="noStrike" cap="none">
                <a:solidFill>
                  <a:srgbClr val="1a1a1a"/>
                </a:solidFill>
                <a:latin typeface="맑은 고딕"/>
                <a:ea typeface="맑은 고딕"/>
                <a:cs typeface="Calibri"/>
                <a:sym typeface="Calibri"/>
              </a:rPr>
              <a:t>질문과 답변</a:t>
            </a:r>
            <a:endParaRPr sz="1193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3735601" y="3345372"/>
            <a:ext cx="1672800" cy="1884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ct val="25000"/>
              <a:buFont typeface="Calibri"/>
              <a:buNone/>
              <a:defRPr/>
            </a:pPr>
            <a:r>
              <a:rPr lang="en-US" sz="900" u="sng">
                <a:solidFill>
                  <a:schemeClr val="hlink"/>
                </a:solidFill>
                <a:latin typeface="맑은 고딕"/>
                <a:ea typeface="맑은 고딕"/>
                <a:hlinkClick r:id="rId3"/>
              </a:rPr>
              <a:t>http://192.168.0.40:5000/</a:t>
            </a:r>
            <a:endParaRPr sz="900" i="0" u="none" strike="noStrike" cap="none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3735601" y="3607905"/>
            <a:ext cx="1672800" cy="24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25000"/>
              <a:buFont typeface="Calibri"/>
              <a:buNone/>
              <a:defRPr/>
            </a:pPr>
            <a:r>
              <a:rPr lang="en-US" sz="942" b="0" i="0" u="none" strike="noStrike" cap="none">
                <a:solidFill>
                  <a:srgbClr val="333333"/>
                </a:solidFill>
                <a:latin typeface="맑은 고딕"/>
                <a:ea typeface="맑은 고딕"/>
                <a:cs typeface="Calibri"/>
                <a:sym typeface="Calibri"/>
              </a:rPr>
              <a:t>감사합니다.</a:t>
            </a:r>
            <a:endParaRPr sz="942" b="0" i="0" u="none" strike="noStrike" cap="none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537" name="Google Shape;537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>
                <a:latin typeface="맑은 고딕"/>
                <a:ea typeface="맑은 고딕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24</a:t>
            </a:fld>
            <a:endParaRPr 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1520</ep:Words>
  <ep:PresentationFormat/>
  <ep:Paragraphs>308</ep:Paragraphs>
  <ep:Slides>24</ep:Slides>
  <ep:Notes>24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2025-12-19T10:52:40.000</dcterms:created>
  <dc:creator>PptxGenJS</dc:creator>
  <cp:lastModifiedBy>human-01</cp:lastModifiedBy>
  <dcterms:modified xsi:type="dcterms:W3CDTF">2026-01-23T02:09:44.868</dcterms:modified>
  <cp:revision>23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